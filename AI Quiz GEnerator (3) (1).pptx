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anva Sans" charset="1" panose="020B0503030501040103"/>
      <p:regular r:id="rId18"/>
    </p:embeddedFont>
    <p:embeddedFont>
      <p:font typeface="Canva Sans Bold" charset="1" panose="020B0803030501040103"/>
      <p:regular r:id="rId19"/>
    </p:embeddedFont>
    <p:embeddedFont>
      <p:font typeface="Poppins Bold" charset="1" panose="000008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45C72"/>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3543867" y="5391150"/>
            <a:ext cx="11633233" cy="1039494"/>
          </a:xfrm>
          <a:prstGeom prst="rect">
            <a:avLst/>
          </a:prstGeom>
        </p:spPr>
        <p:txBody>
          <a:bodyPr anchor="t" rtlCol="false" tIns="0" lIns="0" bIns="0" rIns="0">
            <a:spAutoFit/>
          </a:bodyPr>
          <a:lstStyle/>
          <a:p>
            <a:pPr algn="ctr">
              <a:lnSpc>
                <a:spcPts val="7564"/>
              </a:lnSpc>
            </a:pPr>
            <a:r>
              <a:rPr lang="en-US" sz="8499" spc="-169">
                <a:solidFill>
                  <a:srgbClr val="FFFFFF"/>
                </a:solidFill>
                <a:latin typeface="Canva Sans"/>
                <a:ea typeface="Canva Sans"/>
                <a:cs typeface="Canva Sans"/>
                <a:sym typeface="Canva Sans"/>
              </a:rPr>
              <a:t>Title: </a:t>
            </a:r>
            <a:r>
              <a:rPr lang="en-US" sz="8499" spc="-169">
                <a:solidFill>
                  <a:srgbClr val="FFFFFF"/>
                </a:solidFill>
                <a:latin typeface="Canva Sans"/>
                <a:ea typeface="Canva Sans"/>
                <a:cs typeface="Canva Sans"/>
                <a:sym typeface="Canva Sans"/>
              </a:rPr>
              <a:t>AI Quiz Generator</a:t>
            </a:r>
          </a:p>
        </p:txBody>
      </p:sp>
      <p:sp>
        <p:nvSpPr>
          <p:cNvPr name="TextBox 11" id="11"/>
          <p:cNvSpPr txBox="true"/>
          <p:nvPr/>
        </p:nvSpPr>
        <p:spPr>
          <a:xfrm rot="0">
            <a:off x="10074099" y="8773795"/>
            <a:ext cx="6995684" cy="484505"/>
          </a:xfrm>
          <a:prstGeom prst="rect">
            <a:avLst/>
          </a:prstGeom>
        </p:spPr>
        <p:txBody>
          <a:bodyPr anchor="t" rtlCol="false" tIns="0" lIns="0" bIns="0" rIns="0">
            <a:spAutoFit/>
          </a:bodyPr>
          <a:lstStyle/>
          <a:p>
            <a:pPr algn="ctr">
              <a:lnSpc>
                <a:spcPts val="3699"/>
              </a:lnSpc>
            </a:pPr>
            <a:r>
              <a:rPr lang="en-US" sz="3699">
                <a:solidFill>
                  <a:srgbClr val="FFFFFF"/>
                </a:solidFill>
                <a:latin typeface="Canva Sans"/>
                <a:ea typeface="Canva Sans"/>
                <a:cs typeface="Canva Sans"/>
                <a:sym typeface="Canva Sans"/>
              </a:rPr>
              <a:t>Presented by Team MechMind</a:t>
            </a:r>
          </a:p>
        </p:txBody>
      </p:sp>
      <p:sp>
        <p:nvSpPr>
          <p:cNvPr name="TextBox 12" id="12"/>
          <p:cNvSpPr txBox="true"/>
          <p:nvPr/>
        </p:nvSpPr>
        <p:spPr>
          <a:xfrm rot="0">
            <a:off x="3703915" y="2389461"/>
            <a:ext cx="10880170" cy="1635122"/>
          </a:xfrm>
          <a:prstGeom prst="rect">
            <a:avLst/>
          </a:prstGeom>
        </p:spPr>
        <p:txBody>
          <a:bodyPr anchor="t" rtlCol="false" tIns="0" lIns="0" bIns="0" rIns="0">
            <a:spAutoFit/>
          </a:bodyPr>
          <a:lstStyle/>
          <a:p>
            <a:pPr algn="ctr">
              <a:lnSpc>
                <a:spcPts val="13300"/>
              </a:lnSpc>
            </a:pPr>
            <a:r>
              <a:rPr lang="en-US" sz="9500" b="true">
                <a:solidFill>
                  <a:srgbClr val="FFFFFF"/>
                </a:solidFill>
                <a:latin typeface="Canva Sans Bold"/>
                <a:ea typeface="Canva Sans Bold"/>
                <a:cs typeface="Canva Sans Bold"/>
                <a:sym typeface="Canva Sans Bold"/>
              </a:rPr>
              <a:t>  Project Proposal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45C72"/>
        </a:solidFill>
      </p:bgPr>
    </p:bg>
    <p:spTree>
      <p:nvGrpSpPr>
        <p:cNvPr id="1" name=""/>
        <p:cNvGrpSpPr/>
        <p:nvPr/>
      </p:nvGrpSpPr>
      <p:grpSpPr>
        <a:xfrm>
          <a:off x="0" y="0"/>
          <a:ext cx="0" cy="0"/>
          <a:chOff x="0" y="0"/>
          <a:chExt cx="0" cy="0"/>
        </a:xfrm>
      </p:grpSpPr>
      <p:sp>
        <p:nvSpPr>
          <p:cNvPr name="Freeform 2" id="2"/>
          <p:cNvSpPr/>
          <p:nvPr/>
        </p:nvSpPr>
        <p:spPr>
          <a:xfrm flipH="false" flipV="false" rot="0">
            <a:off x="2769394" y="5743979"/>
            <a:ext cx="4105454" cy="931656"/>
          </a:xfrm>
          <a:custGeom>
            <a:avLst/>
            <a:gdLst/>
            <a:ahLst/>
            <a:cxnLst/>
            <a:rect r="r" b="b" t="t" l="l"/>
            <a:pathLst>
              <a:path h="931656" w="4105454">
                <a:moveTo>
                  <a:pt x="0" y="0"/>
                </a:moveTo>
                <a:lnTo>
                  <a:pt x="4105454" y="0"/>
                </a:lnTo>
                <a:lnTo>
                  <a:pt x="4105454" y="931656"/>
                </a:lnTo>
                <a:lnTo>
                  <a:pt x="0" y="9316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182807" y="5743979"/>
            <a:ext cx="4105454" cy="931656"/>
          </a:xfrm>
          <a:custGeom>
            <a:avLst/>
            <a:gdLst/>
            <a:ahLst/>
            <a:cxnLst/>
            <a:rect r="r" b="b" t="t" l="l"/>
            <a:pathLst>
              <a:path h="931656" w="4105454">
                <a:moveTo>
                  <a:pt x="0" y="0"/>
                </a:moveTo>
                <a:lnTo>
                  <a:pt x="4105454" y="0"/>
                </a:lnTo>
                <a:lnTo>
                  <a:pt x="4105454" y="931656"/>
                </a:lnTo>
                <a:lnTo>
                  <a:pt x="0" y="9316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596220" y="5743979"/>
            <a:ext cx="4105454" cy="931656"/>
          </a:xfrm>
          <a:custGeom>
            <a:avLst/>
            <a:gdLst/>
            <a:ahLst/>
            <a:cxnLst/>
            <a:rect r="r" b="b" t="t" l="l"/>
            <a:pathLst>
              <a:path h="931656" w="4105454">
                <a:moveTo>
                  <a:pt x="0" y="0"/>
                </a:moveTo>
                <a:lnTo>
                  <a:pt x="4105454" y="0"/>
                </a:lnTo>
                <a:lnTo>
                  <a:pt x="4105454" y="931656"/>
                </a:lnTo>
                <a:lnTo>
                  <a:pt x="0" y="9316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769394" y="6675635"/>
            <a:ext cx="4105454" cy="931656"/>
          </a:xfrm>
          <a:custGeom>
            <a:avLst/>
            <a:gdLst/>
            <a:ahLst/>
            <a:cxnLst/>
            <a:rect r="r" b="b" t="t" l="l"/>
            <a:pathLst>
              <a:path h="931656" w="4105454">
                <a:moveTo>
                  <a:pt x="0" y="0"/>
                </a:moveTo>
                <a:lnTo>
                  <a:pt x="4105454" y="0"/>
                </a:lnTo>
                <a:lnTo>
                  <a:pt x="4105454" y="931656"/>
                </a:lnTo>
                <a:lnTo>
                  <a:pt x="0" y="9316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82807" y="6675635"/>
            <a:ext cx="4105454" cy="931656"/>
          </a:xfrm>
          <a:custGeom>
            <a:avLst/>
            <a:gdLst/>
            <a:ahLst/>
            <a:cxnLst/>
            <a:rect r="r" b="b" t="t" l="l"/>
            <a:pathLst>
              <a:path h="931656" w="4105454">
                <a:moveTo>
                  <a:pt x="0" y="0"/>
                </a:moveTo>
                <a:lnTo>
                  <a:pt x="4105454" y="0"/>
                </a:lnTo>
                <a:lnTo>
                  <a:pt x="4105454" y="931656"/>
                </a:lnTo>
                <a:lnTo>
                  <a:pt x="0" y="9316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1596220" y="6675635"/>
            <a:ext cx="4105454" cy="931656"/>
          </a:xfrm>
          <a:custGeom>
            <a:avLst/>
            <a:gdLst/>
            <a:ahLst/>
            <a:cxnLst/>
            <a:rect r="r" b="b" t="t" l="l"/>
            <a:pathLst>
              <a:path h="931656" w="4105454">
                <a:moveTo>
                  <a:pt x="0" y="0"/>
                </a:moveTo>
                <a:lnTo>
                  <a:pt x="4105454" y="0"/>
                </a:lnTo>
                <a:lnTo>
                  <a:pt x="4105454" y="931656"/>
                </a:lnTo>
                <a:lnTo>
                  <a:pt x="0" y="9316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440756" y="547769"/>
            <a:ext cx="20188973" cy="4404867"/>
          </a:xfrm>
          <a:custGeom>
            <a:avLst/>
            <a:gdLst/>
            <a:ahLst/>
            <a:cxnLst/>
            <a:rect r="r" b="b" t="t" l="l"/>
            <a:pathLst>
              <a:path h="4404867" w="20188973">
                <a:moveTo>
                  <a:pt x="0" y="0"/>
                </a:moveTo>
                <a:lnTo>
                  <a:pt x="20188973" y="0"/>
                </a:lnTo>
                <a:lnTo>
                  <a:pt x="20188973" y="4404867"/>
                </a:lnTo>
                <a:lnTo>
                  <a:pt x="0" y="4404867"/>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5199594" y="2564885"/>
            <a:ext cx="7888813" cy="1024326"/>
          </a:xfrm>
          <a:prstGeom prst="rect">
            <a:avLst/>
          </a:prstGeom>
        </p:spPr>
        <p:txBody>
          <a:bodyPr anchor="t" rtlCol="false" tIns="0" lIns="0" bIns="0" rIns="0">
            <a:spAutoFit/>
          </a:bodyPr>
          <a:lstStyle/>
          <a:p>
            <a:pPr algn="ctr">
              <a:lnSpc>
                <a:spcPts val="7437"/>
              </a:lnSpc>
            </a:pPr>
            <a:r>
              <a:rPr lang="en-US" b="true" sz="8356" spc="-167">
                <a:solidFill>
                  <a:srgbClr val="FFFFFF"/>
                </a:solidFill>
                <a:latin typeface="Canva Sans Bold"/>
                <a:ea typeface="Canva Sans Bold"/>
                <a:cs typeface="Canva Sans Bold"/>
                <a:sym typeface="Canva Sans Bold"/>
              </a:rPr>
              <a:t>Our Team</a:t>
            </a:r>
          </a:p>
        </p:txBody>
      </p:sp>
      <p:sp>
        <p:nvSpPr>
          <p:cNvPr name="TextBox 10" id="10"/>
          <p:cNvSpPr txBox="true"/>
          <p:nvPr/>
        </p:nvSpPr>
        <p:spPr>
          <a:xfrm rot="0">
            <a:off x="7853065" y="5992637"/>
            <a:ext cx="2581870" cy="372745"/>
          </a:xfrm>
          <a:prstGeom prst="rect">
            <a:avLst/>
          </a:prstGeom>
        </p:spPr>
        <p:txBody>
          <a:bodyPr anchor="t" rtlCol="false" tIns="0" lIns="0" bIns="0" rIns="0">
            <a:spAutoFit/>
          </a:bodyPr>
          <a:lstStyle/>
          <a:p>
            <a:pPr algn="ctr">
              <a:lnSpc>
                <a:spcPts val="3080"/>
              </a:lnSpc>
              <a:spcBef>
                <a:spcPct val="0"/>
              </a:spcBef>
            </a:pPr>
            <a:r>
              <a:rPr lang="en-US" b="true" sz="2200" spc="-44">
                <a:solidFill>
                  <a:srgbClr val="2F7785"/>
                </a:solidFill>
                <a:latin typeface="Canva Sans Bold"/>
                <a:ea typeface="Canva Sans Bold"/>
                <a:cs typeface="Canva Sans Bold"/>
                <a:sym typeface="Canva Sans Bold"/>
              </a:rPr>
              <a:t>  Samia Bint Hamid  </a:t>
            </a:r>
          </a:p>
        </p:txBody>
      </p:sp>
      <p:sp>
        <p:nvSpPr>
          <p:cNvPr name="TextBox 11" id="11"/>
          <p:cNvSpPr txBox="true"/>
          <p:nvPr/>
        </p:nvSpPr>
        <p:spPr>
          <a:xfrm rot="0">
            <a:off x="3412187" y="6038593"/>
            <a:ext cx="2580204" cy="372745"/>
          </a:xfrm>
          <a:prstGeom prst="rect">
            <a:avLst/>
          </a:prstGeom>
        </p:spPr>
        <p:txBody>
          <a:bodyPr anchor="t" rtlCol="false" tIns="0" lIns="0" bIns="0" rIns="0">
            <a:spAutoFit/>
          </a:bodyPr>
          <a:lstStyle/>
          <a:p>
            <a:pPr algn="ctr">
              <a:lnSpc>
                <a:spcPts val="3079"/>
              </a:lnSpc>
              <a:spcBef>
                <a:spcPct val="0"/>
              </a:spcBef>
            </a:pPr>
            <a:r>
              <a:rPr lang="en-US" b="true" sz="2199" spc="-43">
                <a:solidFill>
                  <a:srgbClr val="2F7785"/>
                </a:solidFill>
                <a:latin typeface="Canva Sans Bold"/>
                <a:ea typeface="Canva Sans Bold"/>
                <a:cs typeface="Canva Sans Bold"/>
                <a:sym typeface="Canva Sans Bold"/>
              </a:rPr>
              <a:t> Radifa Anjum Mim  </a:t>
            </a:r>
          </a:p>
        </p:txBody>
      </p:sp>
      <p:sp>
        <p:nvSpPr>
          <p:cNvPr name="TextBox 12" id="12"/>
          <p:cNvSpPr txBox="true"/>
          <p:nvPr/>
        </p:nvSpPr>
        <p:spPr>
          <a:xfrm rot="0">
            <a:off x="12737405" y="6038593"/>
            <a:ext cx="1823085" cy="372745"/>
          </a:xfrm>
          <a:prstGeom prst="rect">
            <a:avLst/>
          </a:prstGeom>
        </p:spPr>
        <p:txBody>
          <a:bodyPr anchor="t" rtlCol="false" tIns="0" lIns="0" bIns="0" rIns="0">
            <a:spAutoFit/>
          </a:bodyPr>
          <a:lstStyle/>
          <a:p>
            <a:pPr algn="ctr">
              <a:lnSpc>
                <a:spcPts val="3080"/>
              </a:lnSpc>
              <a:spcBef>
                <a:spcPct val="0"/>
              </a:spcBef>
            </a:pPr>
            <a:r>
              <a:rPr lang="en-US" b="true" sz="2200" spc="-44">
                <a:solidFill>
                  <a:srgbClr val="2F7785"/>
                </a:solidFill>
                <a:latin typeface="Canva Sans Bold"/>
                <a:ea typeface="Canva Sans Bold"/>
                <a:cs typeface="Canva Sans Bold"/>
                <a:sym typeface="Canva Sans Bold"/>
              </a:rPr>
              <a:t>  Gaffar Kadir  </a:t>
            </a:r>
          </a:p>
        </p:txBody>
      </p:sp>
      <p:sp>
        <p:nvSpPr>
          <p:cNvPr name="TextBox 13" id="13"/>
          <p:cNvSpPr txBox="true"/>
          <p:nvPr/>
        </p:nvSpPr>
        <p:spPr>
          <a:xfrm rot="0">
            <a:off x="2769394" y="6924293"/>
            <a:ext cx="4105454" cy="396240"/>
          </a:xfrm>
          <a:prstGeom prst="rect">
            <a:avLst/>
          </a:prstGeom>
        </p:spPr>
        <p:txBody>
          <a:bodyPr anchor="t" rtlCol="false" tIns="0" lIns="0" bIns="0" rIns="0">
            <a:spAutoFit/>
          </a:bodyPr>
          <a:lstStyle/>
          <a:p>
            <a:pPr algn="ctr">
              <a:lnSpc>
                <a:spcPts val="3359"/>
              </a:lnSpc>
              <a:spcBef>
                <a:spcPct val="0"/>
              </a:spcBef>
            </a:pPr>
            <a:r>
              <a:rPr lang="en-US" b="true" sz="2400" spc="-48">
                <a:solidFill>
                  <a:srgbClr val="2F7785"/>
                </a:solidFill>
                <a:latin typeface="Canva Sans Bold"/>
                <a:ea typeface="Canva Sans Bold"/>
                <a:cs typeface="Canva Sans Bold"/>
                <a:sym typeface="Canva Sans Bold"/>
              </a:rPr>
              <a:t>0112330968</a:t>
            </a:r>
          </a:p>
        </p:txBody>
      </p:sp>
      <p:sp>
        <p:nvSpPr>
          <p:cNvPr name="TextBox 14" id="14"/>
          <p:cNvSpPr txBox="true"/>
          <p:nvPr/>
        </p:nvSpPr>
        <p:spPr>
          <a:xfrm rot="0">
            <a:off x="7091273" y="6924293"/>
            <a:ext cx="4105454" cy="396240"/>
          </a:xfrm>
          <a:prstGeom prst="rect">
            <a:avLst/>
          </a:prstGeom>
        </p:spPr>
        <p:txBody>
          <a:bodyPr anchor="t" rtlCol="false" tIns="0" lIns="0" bIns="0" rIns="0">
            <a:spAutoFit/>
          </a:bodyPr>
          <a:lstStyle/>
          <a:p>
            <a:pPr algn="ctr">
              <a:lnSpc>
                <a:spcPts val="3359"/>
              </a:lnSpc>
              <a:spcBef>
                <a:spcPct val="0"/>
              </a:spcBef>
            </a:pPr>
            <a:r>
              <a:rPr lang="en-US" b="true" sz="2400" spc="-48">
                <a:solidFill>
                  <a:srgbClr val="2F7785"/>
                </a:solidFill>
                <a:latin typeface="Canva Sans Bold"/>
                <a:ea typeface="Canva Sans Bold"/>
                <a:cs typeface="Canva Sans Bold"/>
                <a:sym typeface="Canva Sans Bold"/>
              </a:rPr>
              <a:t>0112330733</a:t>
            </a:r>
          </a:p>
        </p:txBody>
      </p:sp>
      <p:sp>
        <p:nvSpPr>
          <p:cNvPr name="TextBox 15" id="15"/>
          <p:cNvSpPr txBox="true"/>
          <p:nvPr/>
        </p:nvSpPr>
        <p:spPr>
          <a:xfrm rot="0">
            <a:off x="11596220" y="6924293"/>
            <a:ext cx="4105454" cy="396240"/>
          </a:xfrm>
          <a:prstGeom prst="rect">
            <a:avLst/>
          </a:prstGeom>
        </p:spPr>
        <p:txBody>
          <a:bodyPr anchor="t" rtlCol="false" tIns="0" lIns="0" bIns="0" rIns="0">
            <a:spAutoFit/>
          </a:bodyPr>
          <a:lstStyle/>
          <a:p>
            <a:pPr algn="ctr">
              <a:lnSpc>
                <a:spcPts val="3359"/>
              </a:lnSpc>
              <a:spcBef>
                <a:spcPct val="0"/>
              </a:spcBef>
            </a:pPr>
            <a:r>
              <a:rPr lang="en-US" b="true" sz="2400" spc="-48">
                <a:solidFill>
                  <a:srgbClr val="2F7785"/>
                </a:solidFill>
                <a:latin typeface="Canva Sans Bold"/>
                <a:ea typeface="Canva Sans Bold"/>
                <a:cs typeface="Canva Sans Bold"/>
                <a:sym typeface="Canva Sans Bold"/>
              </a:rPr>
              <a:t>0112330096</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45C72"/>
        </a:solidFill>
      </p:bgPr>
    </p:bg>
    <p:spTree>
      <p:nvGrpSpPr>
        <p:cNvPr id="1" name=""/>
        <p:cNvGrpSpPr/>
        <p:nvPr/>
      </p:nvGrpSpPr>
      <p:grpSpPr>
        <a:xfrm>
          <a:off x="0" y="0"/>
          <a:ext cx="0" cy="0"/>
          <a:chOff x="0" y="0"/>
          <a:chExt cx="0" cy="0"/>
        </a:xfrm>
      </p:grpSpPr>
      <p:sp>
        <p:nvSpPr>
          <p:cNvPr name="TextBox 2" id="2"/>
          <p:cNvSpPr txBox="true"/>
          <p:nvPr/>
        </p:nvSpPr>
        <p:spPr>
          <a:xfrm rot="0">
            <a:off x="2031344" y="3785492"/>
            <a:ext cx="13632519" cy="4442460"/>
          </a:xfrm>
          <a:prstGeom prst="rect">
            <a:avLst/>
          </a:prstGeom>
        </p:spPr>
        <p:txBody>
          <a:bodyPr anchor="t" rtlCol="false" tIns="0" lIns="0" bIns="0" rIns="0">
            <a:spAutoFit/>
          </a:bodyPr>
          <a:lstStyle/>
          <a:p>
            <a:pPr algn="just">
              <a:lnSpc>
                <a:spcPts val="5040"/>
              </a:lnSpc>
              <a:spcBef>
                <a:spcPct val="0"/>
              </a:spcBef>
            </a:pPr>
            <a:r>
              <a:rPr lang="en-US" sz="3600" spc="-72">
                <a:solidFill>
                  <a:srgbClr val="FFFFFF"/>
                </a:solidFill>
                <a:latin typeface="Canva Sans"/>
                <a:ea typeface="Canva Sans"/>
                <a:cs typeface="Canva Sans"/>
                <a:sym typeface="Canva Sans"/>
              </a:rPr>
              <a:t>Creating quizzes manually is time-consuming and often limits variety and efficiency. An AI Quiz Generator uses Natural Language Processing (NLP) to automatically generate relevant questions from given text or topics. This system helps educators and students quickly create interactive assessments, saving time while improving the learning experience.</a:t>
            </a:r>
          </a:p>
          <a:p>
            <a:pPr algn="ctr">
              <a:lnSpc>
                <a:spcPts val="5040"/>
              </a:lnSpc>
              <a:spcBef>
                <a:spcPct val="0"/>
              </a:spcBef>
            </a:pPr>
          </a:p>
        </p:txBody>
      </p:sp>
      <p:sp>
        <p:nvSpPr>
          <p:cNvPr name="Freeform 3" id="3"/>
          <p:cNvSpPr/>
          <p:nvPr/>
        </p:nvSpPr>
        <p:spPr>
          <a:xfrm flipH="false" flipV="false" rot="0">
            <a:off x="15521817" y="316947"/>
            <a:ext cx="2268728" cy="2042677"/>
          </a:xfrm>
          <a:custGeom>
            <a:avLst/>
            <a:gdLst/>
            <a:ahLst/>
            <a:cxnLst/>
            <a:rect r="r" b="b" t="t" l="l"/>
            <a:pathLst>
              <a:path h="2042677" w="2268728">
                <a:moveTo>
                  <a:pt x="0" y="0"/>
                </a:moveTo>
                <a:lnTo>
                  <a:pt x="2268727" y="0"/>
                </a:lnTo>
                <a:lnTo>
                  <a:pt x="2268727" y="2042677"/>
                </a:lnTo>
                <a:lnTo>
                  <a:pt x="0" y="20426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883444" y="2607274"/>
            <a:ext cx="8418954" cy="1024326"/>
          </a:xfrm>
          <a:prstGeom prst="rect">
            <a:avLst/>
          </a:prstGeom>
        </p:spPr>
        <p:txBody>
          <a:bodyPr anchor="t" rtlCol="false" tIns="0" lIns="0" bIns="0" rIns="0">
            <a:spAutoFit/>
          </a:bodyPr>
          <a:lstStyle/>
          <a:p>
            <a:pPr algn="ctr">
              <a:lnSpc>
                <a:spcPts val="7437"/>
              </a:lnSpc>
            </a:pPr>
            <a:r>
              <a:rPr lang="en-US" b="true" sz="8356" spc="-167">
                <a:solidFill>
                  <a:srgbClr val="FFFFFF"/>
                </a:solidFill>
                <a:latin typeface="Canva Sans Bold"/>
                <a:ea typeface="Canva Sans Bold"/>
                <a:cs typeface="Canva Sans Bold"/>
                <a:sym typeface="Canva Sans Bold"/>
              </a:rPr>
              <a:t>Introduction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45C72"/>
        </a:solidFill>
      </p:bgPr>
    </p:bg>
    <p:spTree>
      <p:nvGrpSpPr>
        <p:cNvPr id="1" name=""/>
        <p:cNvGrpSpPr/>
        <p:nvPr/>
      </p:nvGrpSpPr>
      <p:grpSpPr>
        <a:xfrm>
          <a:off x="0" y="0"/>
          <a:ext cx="0" cy="0"/>
          <a:chOff x="0" y="0"/>
          <a:chExt cx="0" cy="0"/>
        </a:xfrm>
      </p:grpSpPr>
      <p:sp>
        <p:nvSpPr>
          <p:cNvPr name="Freeform 2" id="2"/>
          <p:cNvSpPr/>
          <p:nvPr/>
        </p:nvSpPr>
        <p:spPr>
          <a:xfrm flipH="false" flipV="false" rot="0">
            <a:off x="0" y="6866679"/>
            <a:ext cx="4002503" cy="3420321"/>
          </a:xfrm>
          <a:custGeom>
            <a:avLst/>
            <a:gdLst/>
            <a:ahLst/>
            <a:cxnLst/>
            <a:rect r="r" b="b" t="t" l="l"/>
            <a:pathLst>
              <a:path h="3420321" w="4002503">
                <a:moveTo>
                  <a:pt x="0" y="0"/>
                </a:moveTo>
                <a:lnTo>
                  <a:pt x="4002503" y="0"/>
                </a:lnTo>
                <a:lnTo>
                  <a:pt x="4002503" y="3420321"/>
                </a:lnTo>
                <a:lnTo>
                  <a:pt x="0" y="34203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283489" y="1510191"/>
            <a:ext cx="8960375" cy="1925265"/>
          </a:xfrm>
          <a:prstGeom prst="rect">
            <a:avLst/>
          </a:prstGeom>
        </p:spPr>
        <p:txBody>
          <a:bodyPr anchor="t" rtlCol="false" tIns="0" lIns="0" bIns="0" rIns="0">
            <a:spAutoFit/>
          </a:bodyPr>
          <a:lstStyle/>
          <a:p>
            <a:pPr algn="l">
              <a:lnSpc>
                <a:spcPts val="7348"/>
              </a:lnSpc>
            </a:pPr>
            <a:r>
              <a:rPr lang="en-US" b="true" sz="8256" spc="-165">
                <a:solidFill>
                  <a:srgbClr val="FFFFFF"/>
                </a:solidFill>
                <a:latin typeface="Canva Sans Bold"/>
                <a:ea typeface="Canva Sans Bold"/>
                <a:cs typeface="Canva Sans Bold"/>
                <a:sym typeface="Canva Sans Bold"/>
              </a:rPr>
              <a:t>Problem Statement</a:t>
            </a:r>
          </a:p>
        </p:txBody>
      </p:sp>
      <p:sp>
        <p:nvSpPr>
          <p:cNvPr name="TextBox 4" id="4"/>
          <p:cNvSpPr txBox="true"/>
          <p:nvPr/>
        </p:nvSpPr>
        <p:spPr>
          <a:xfrm rot="0">
            <a:off x="2416661" y="3884181"/>
            <a:ext cx="13454678" cy="3372617"/>
          </a:xfrm>
          <a:prstGeom prst="rect">
            <a:avLst/>
          </a:prstGeom>
        </p:spPr>
        <p:txBody>
          <a:bodyPr anchor="t" rtlCol="false" tIns="0" lIns="0" bIns="0" rIns="0">
            <a:spAutoFit/>
          </a:bodyPr>
          <a:lstStyle/>
          <a:p>
            <a:pPr algn="just">
              <a:lnSpc>
                <a:spcPts val="5375"/>
              </a:lnSpc>
            </a:pPr>
            <a:r>
              <a:rPr lang="en-US" sz="3839">
                <a:solidFill>
                  <a:srgbClr val="FFFFFF"/>
                </a:solidFill>
                <a:latin typeface="Canva Sans"/>
                <a:ea typeface="Canva Sans"/>
                <a:cs typeface="Canva Sans"/>
                <a:sym typeface="Canva Sans"/>
              </a:rPr>
              <a:t>1.Manual quiz creation requires significant effort and time.</a:t>
            </a:r>
          </a:p>
          <a:p>
            <a:pPr algn="l">
              <a:lnSpc>
                <a:spcPts val="5375"/>
              </a:lnSpc>
            </a:pPr>
            <a:r>
              <a:rPr lang="en-US" sz="3839">
                <a:solidFill>
                  <a:srgbClr val="FFFFFF"/>
                </a:solidFill>
                <a:latin typeface="Canva Sans"/>
                <a:ea typeface="Canva Sans"/>
                <a:cs typeface="Canva Sans"/>
                <a:sym typeface="Canva Sans"/>
              </a:rPr>
              <a:t>2.</a:t>
            </a:r>
            <a:r>
              <a:rPr lang="en-US" sz="3839">
                <a:solidFill>
                  <a:srgbClr val="FFFFFF"/>
                </a:solidFill>
                <a:latin typeface="Canva Sans"/>
                <a:ea typeface="Canva Sans"/>
                <a:cs typeface="Canva Sans"/>
                <a:sym typeface="Canva Sans"/>
              </a:rPr>
              <a:t>Lack of personalized and adaptive quiz systems.</a:t>
            </a:r>
          </a:p>
          <a:p>
            <a:pPr algn="l">
              <a:lnSpc>
                <a:spcPts val="5375"/>
              </a:lnSpc>
            </a:pPr>
            <a:r>
              <a:rPr lang="en-US" sz="3839">
                <a:solidFill>
                  <a:srgbClr val="FFFFFF"/>
                </a:solidFill>
                <a:latin typeface="Canva Sans"/>
                <a:ea typeface="Canva Sans"/>
                <a:cs typeface="Canva Sans"/>
                <a:sym typeface="Canva Sans"/>
              </a:rPr>
              <a:t>3.</a:t>
            </a:r>
            <a:r>
              <a:rPr lang="en-US" sz="3839">
                <a:solidFill>
                  <a:srgbClr val="FFFFFF"/>
                </a:solidFill>
                <a:latin typeface="Canva Sans"/>
                <a:ea typeface="Canva Sans"/>
                <a:cs typeface="Canva Sans"/>
                <a:sym typeface="Canva Sans"/>
              </a:rPr>
              <a:t>Difficulty in generating diverse question types quickly.</a:t>
            </a:r>
          </a:p>
          <a:p>
            <a:pPr algn="l">
              <a:lnSpc>
                <a:spcPts val="5375"/>
              </a:lnSpc>
              <a:spcBef>
                <a:spcPct val="0"/>
              </a:spcBef>
            </a:pPr>
            <a:r>
              <a:rPr lang="en-US" sz="3839">
                <a:solidFill>
                  <a:srgbClr val="FFFFFF"/>
                </a:solidFill>
                <a:latin typeface="Canva Sans"/>
                <a:ea typeface="Canva Sans"/>
                <a:cs typeface="Canva Sans"/>
                <a:sym typeface="Canva Sans"/>
              </a:rPr>
              <a:t>4.</a:t>
            </a:r>
            <a:r>
              <a:rPr lang="en-US" sz="3839">
                <a:solidFill>
                  <a:srgbClr val="FFFFFF"/>
                </a:solidFill>
                <a:latin typeface="Canva Sans"/>
                <a:ea typeface="Canva Sans"/>
                <a:cs typeface="Canva Sans"/>
                <a:sym typeface="Canva Sans"/>
              </a:rPr>
              <a:t>Need for an automated, scalable solution.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45C72"/>
        </a:solidFill>
      </p:bgPr>
    </p:bg>
    <p:spTree>
      <p:nvGrpSpPr>
        <p:cNvPr id="1" name=""/>
        <p:cNvGrpSpPr/>
        <p:nvPr/>
      </p:nvGrpSpPr>
      <p:grpSpPr>
        <a:xfrm>
          <a:off x="0" y="0"/>
          <a:ext cx="0" cy="0"/>
          <a:chOff x="0" y="0"/>
          <a:chExt cx="0" cy="0"/>
        </a:xfrm>
      </p:grpSpPr>
      <p:sp>
        <p:nvSpPr>
          <p:cNvPr name="Freeform 2" id="2"/>
          <p:cNvSpPr/>
          <p:nvPr/>
        </p:nvSpPr>
        <p:spPr>
          <a:xfrm flipH="false" flipV="false" rot="0">
            <a:off x="14750467" y="1308776"/>
            <a:ext cx="3537533" cy="7669448"/>
          </a:xfrm>
          <a:custGeom>
            <a:avLst/>
            <a:gdLst/>
            <a:ahLst/>
            <a:cxnLst/>
            <a:rect r="r" b="b" t="t" l="l"/>
            <a:pathLst>
              <a:path h="7669448" w="3537533">
                <a:moveTo>
                  <a:pt x="0" y="0"/>
                </a:moveTo>
                <a:lnTo>
                  <a:pt x="3537533" y="0"/>
                </a:lnTo>
                <a:lnTo>
                  <a:pt x="3537533" y="7669448"/>
                </a:lnTo>
                <a:lnTo>
                  <a:pt x="0" y="7669448"/>
                </a:lnTo>
                <a:lnTo>
                  <a:pt x="0" y="0"/>
                </a:lnTo>
                <a:close/>
              </a:path>
            </a:pathLst>
          </a:custGeom>
          <a:blipFill>
            <a:blip r:embed="rId2">
              <a:alphaModFix amt="43000"/>
            </a:blip>
            <a:stretch>
              <a:fillRect l="0" t="0" r="0" b="0"/>
            </a:stretch>
          </a:blipFill>
        </p:spPr>
      </p:sp>
      <p:sp>
        <p:nvSpPr>
          <p:cNvPr name="TextBox 3" id="3"/>
          <p:cNvSpPr txBox="true"/>
          <p:nvPr/>
        </p:nvSpPr>
        <p:spPr>
          <a:xfrm rot="0">
            <a:off x="1972677" y="3738937"/>
            <a:ext cx="14342646" cy="4512181"/>
          </a:xfrm>
          <a:prstGeom prst="rect">
            <a:avLst/>
          </a:prstGeom>
        </p:spPr>
        <p:txBody>
          <a:bodyPr anchor="t" rtlCol="false" tIns="0" lIns="0" bIns="0" rIns="0">
            <a:spAutoFit/>
          </a:bodyPr>
          <a:lstStyle/>
          <a:p>
            <a:pPr algn="l" marL="787932" indent="-393966" lvl="1">
              <a:lnSpc>
                <a:spcPts val="5109"/>
              </a:lnSpc>
              <a:buAutoNum type="arabicPeriod" startAt="1"/>
            </a:pPr>
            <a:r>
              <a:rPr lang="en-US" sz="3649" spc="-72">
                <a:solidFill>
                  <a:srgbClr val="FFFFFF"/>
                </a:solidFill>
                <a:latin typeface="Canva Sans"/>
                <a:ea typeface="Canva Sans"/>
                <a:cs typeface="Canva Sans"/>
                <a:sym typeface="Canva Sans"/>
              </a:rPr>
              <a:t>Reduce workload for teachers and instructors</a:t>
            </a:r>
          </a:p>
          <a:p>
            <a:pPr algn="l">
              <a:lnSpc>
                <a:spcPts val="5109"/>
              </a:lnSpc>
            </a:pPr>
          </a:p>
          <a:p>
            <a:pPr algn="l">
              <a:lnSpc>
                <a:spcPts val="5109"/>
              </a:lnSpc>
            </a:pPr>
            <a:r>
              <a:rPr lang="en-US" sz="3649" spc="-72">
                <a:solidFill>
                  <a:srgbClr val="FFFFFF"/>
                </a:solidFill>
                <a:latin typeface="Canva Sans"/>
                <a:ea typeface="Canva Sans"/>
                <a:cs typeface="Canva Sans"/>
                <a:sym typeface="Canva Sans"/>
              </a:rPr>
              <a:t>    </a:t>
            </a:r>
            <a:r>
              <a:rPr lang="en-US" sz="3649" spc="-72">
                <a:solidFill>
                  <a:srgbClr val="FFFFFF"/>
                </a:solidFill>
                <a:latin typeface="Canva Sans"/>
                <a:ea typeface="Canva Sans"/>
                <a:cs typeface="Canva Sans"/>
                <a:sym typeface="Canva Sans"/>
              </a:rPr>
              <a:t>2.</a:t>
            </a:r>
            <a:r>
              <a:rPr lang="en-US" sz="3649" spc="-72">
                <a:solidFill>
                  <a:srgbClr val="FFFFFF"/>
                </a:solidFill>
                <a:latin typeface="Canva Sans"/>
                <a:ea typeface="Canva Sans"/>
                <a:cs typeface="Canva Sans"/>
                <a:sym typeface="Canva Sans"/>
              </a:rPr>
              <a:t>Provide instant quiz generation for students</a:t>
            </a:r>
          </a:p>
          <a:p>
            <a:pPr algn="l">
              <a:lnSpc>
                <a:spcPts val="5109"/>
              </a:lnSpc>
            </a:pPr>
          </a:p>
          <a:p>
            <a:pPr algn="l">
              <a:lnSpc>
                <a:spcPts val="5109"/>
              </a:lnSpc>
            </a:pPr>
            <a:r>
              <a:rPr lang="en-US" sz="3649" spc="-72">
                <a:solidFill>
                  <a:srgbClr val="FFFFFF"/>
                </a:solidFill>
                <a:latin typeface="Canva Sans"/>
                <a:ea typeface="Canva Sans"/>
                <a:cs typeface="Canva Sans"/>
                <a:sym typeface="Canva Sans"/>
              </a:rPr>
              <a:t>    </a:t>
            </a:r>
            <a:r>
              <a:rPr lang="en-US" sz="3649" spc="-72">
                <a:solidFill>
                  <a:srgbClr val="FFFFFF"/>
                </a:solidFill>
                <a:latin typeface="Canva Sans"/>
                <a:ea typeface="Canva Sans"/>
                <a:cs typeface="Canva Sans"/>
                <a:sym typeface="Canva Sans"/>
              </a:rPr>
              <a:t>3.</a:t>
            </a:r>
            <a:r>
              <a:rPr lang="en-US" sz="3649" spc="-72">
                <a:solidFill>
                  <a:srgbClr val="FFFFFF"/>
                </a:solidFill>
                <a:latin typeface="Canva Sans"/>
                <a:ea typeface="Canva Sans"/>
                <a:cs typeface="Canva Sans"/>
                <a:sym typeface="Canva Sans"/>
              </a:rPr>
              <a:t>Enhance learning through interactive assessments</a:t>
            </a:r>
          </a:p>
          <a:p>
            <a:pPr algn="l">
              <a:lnSpc>
                <a:spcPts val="5109"/>
              </a:lnSpc>
            </a:pPr>
          </a:p>
          <a:p>
            <a:pPr algn="l">
              <a:lnSpc>
                <a:spcPts val="5109"/>
              </a:lnSpc>
              <a:spcBef>
                <a:spcPct val="0"/>
              </a:spcBef>
            </a:pPr>
            <a:r>
              <a:rPr lang="en-US" sz="3649" spc="-72">
                <a:solidFill>
                  <a:srgbClr val="FFFFFF"/>
                </a:solidFill>
                <a:latin typeface="Canva Sans"/>
                <a:ea typeface="Canva Sans"/>
                <a:cs typeface="Canva Sans"/>
                <a:sym typeface="Canva Sans"/>
              </a:rPr>
              <a:t>    </a:t>
            </a:r>
            <a:r>
              <a:rPr lang="en-US" sz="3649" spc="-72">
                <a:solidFill>
                  <a:srgbClr val="FFFFFF"/>
                </a:solidFill>
                <a:latin typeface="Canva Sans"/>
                <a:ea typeface="Canva Sans"/>
                <a:cs typeface="Canva Sans"/>
                <a:sym typeface="Canva Sans"/>
              </a:rPr>
              <a:t>4.</a:t>
            </a:r>
            <a:r>
              <a:rPr lang="en-US" sz="3649" spc="-72">
                <a:solidFill>
                  <a:srgbClr val="FFFFFF"/>
                </a:solidFill>
                <a:latin typeface="Canva Sans"/>
                <a:ea typeface="Canva Sans"/>
                <a:cs typeface="Canva Sans"/>
                <a:sym typeface="Canva Sans"/>
              </a:rPr>
              <a:t>Utilize AI to improve education systems</a:t>
            </a:r>
          </a:p>
        </p:txBody>
      </p:sp>
      <p:sp>
        <p:nvSpPr>
          <p:cNvPr name="TextBox 4" id="4"/>
          <p:cNvSpPr txBox="true"/>
          <p:nvPr/>
        </p:nvSpPr>
        <p:spPr>
          <a:xfrm rot="0">
            <a:off x="5508340" y="1146851"/>
            <a:ext cx="6386870" cy="1417954"/>
          </a:xfrm>
          <a:prstGeom prst="rect">
            <a:avLst/>
          </a:prstGeom>
        </p:spPr>
        <p:txBody>
          <a:bodyPr anchor="t" rtlCol="false" tIns="0" lIns="0" bIns="0" rIns="0">
            <a:spAutoFit/>
          </a:bodyPr>
          <a:lstStyle/>
          <a:p>
            <a:pPr algn="ctr">
              <a:lnSpc>
                <a:spcPts val="11620"/>
              </a:lnSpc>
            </a:pPr>
            <a:r>
              <a:rPr lang="en-US" sz="8300" b="true">
                <a:solidFill>
                  <a:srgbClr val="FFFFFF"/>
                </a:solidFill>
                <a:latin typeface="Canva Sans Bold"/>
                <a:ea typeface="Canva Sans Bold"/>
                <a:cs typeface="Canva Sans Bold"/>
                <a:sym typeface="Canva Sans Bold"/>
              </a:rPr>
              <a:t> Motivation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45C72"/>
        </a:solidFill>
      </p:bgPr>
    </p:bg>
    <p:spTree>
      <p:nvGrpSpPr>
        <p:cNvPr id="1" name=""/>
        <p:cNvGrpSpPr/>
        <p:nvPr/>
      </p:nvGrpSpPr>
      <p:grpSpPr>
        <a:xfrm>
          <a:off x="0" y="0"/>
          <a:ext cx="0" cy="0"/>
          <a:chOff x="0" y="0"/>
          <a:chExt cx="0" cy="0"/>
        </a:xfrm>
      </p:grpSpPr>
      <p:sp>
        <p:nvSpPr>
          <p:cNvPr name="Freeform 2" id="2"/>
          <p:cNvSpPr/>
          <p:nvPr/>
        </p:nvSpPr>
        <p:spPr>
          <a:xfrm flipH="false" flipV="false" rot="0">
            <a:off x="419298" y="371631"/>
            <a:ext cx="3206487" cy="2810049"/>
          </a:xfrm>
          <a:custGeom>
            <a:avLst/>
            <a:gdLst/>
            <a:ahLst/>
            <a:cxnLst/>
            <a:rect r="r" b="b" t="t" l="l"/>
            <a:pathLst>
              <a:path h="2810049" w="3206487">
                <a:moveTo>
                  <a:pt x="0" y="0"/>
                </a:moveTo>
                <a:lnTo>
                  <a:pt x="3206487" y="0"/>
                </a:lnTo>
                <a:lnTo>
                  <a:pt x="3206487" y="2810049"/>
                </a:lnTo>
                <a:lnTo>
                  <a:pt x="0" y="281004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03054" y="8088426"/>
            <a:ext cx="2893653" cy="2893653"/>
          </a:xfrm>
          <a:custGeom>
            <a:avLst/>
            <a:gdLst/>
            <a:ahLst/>
            <a:cxnLst/>
            <a:rect r="r" b="b" t="t" l="l"/>
            <a:pathLst>
              <a:path h="2893653" w="2893653">
                <a:moveTo>
                  <a:pt x="0" y="0"/>
                </a:moveTo>
                <a:lnTo>
                  <a:pt x="2893653" y="0"/>
                </a:lnTo>
                <a:lnTo>
                  <a:pt x="2893653" y="2893653"/>
                </a:lnTo>
                <a:lnTo>
                  <a:pt x="0" y="2893653"/>
                </a:lnTo>
                <a:lnTo>
                  <a:pt x="0" y="0"/>
                </a:lnTo>
                <a:close/>
              </a:path>
            </a:pathLst>
          </a:custGeom>
          <a:blipFill>
            <a:blip r:embed="rId4">
              <a:alphaModFix amt="53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535303" y="1491579"/>
            <a:ext cx="8960375" cy="1024326"/>
          </a:xfrm>
          <a:prstGeom prst="rect">
            <a:avLst/>
          </a:prstGeom>
        </p:spPr>
        <p:txBody>
          <a:bodyPr anchor="t" rtlCol="false" tIns="0" lIns="0" bIns="0" rIns="0">
            <a:spAutoFit/>
          </a:bodyPr>
          <a:lstStyle/>
          <a:p>
            <a:pPr algn="ctr">
              <a:lnSpc>
                <a:spcPts val="7437"/>
              </a:lnSpc>
            </a:pPr>
            <a:r>
              <a:rPr lang="en-US" b="true" sz="8356" spc="-167">
                <a:solidFill>
                  <a:srgbClr val="FFFFFF"/>
                </a:solidFill>
                <a:latin typeface="Canva Sans Bold"/>
                <a:ea typeface="Canva Sans Bold"/>
                <a:cs typeface="Canva Sans Bold"/>
                <a:sym typeface="Canva Sans Bold"/>
              </a:rPr>
              <a:t>Objectives</a:t>
            </a:r>
          </a:p>
        </p:txBody>
      </p:sp>
      <p:sp>
        <p:nvSpPr>
          <p:cNvPr name="TextBox 5" id="5"/>
          <p:cNvSpPr txBox="true"/>
          <p:nvPr/>
        </p:nvSpPr>
        <p:spPr>
          <a:xfrm rot="0">
            <a:off x="1328816" y="2766703"/>
            <a:ext cx="15630368" cy="1002270"/>
          </a:xfrm>
          <a:prstGeom prst="rect">
            <a:avLst/>
          </a:prstGeom>
        </p:spPr>
        <p:txBody>
          <a:bodyPr anchor="t" rtlCol="false" tIns="0" lIns="0" bIns="0" rIns="0">
            <a:spAutoFit/>
          </a:bodyPr>
          <a:lstStyle/>
          <a:p>
            <a:pPr algn="l" marL="629464" indent="-314732" lvl="1">
              <a:lnSpc>
                <a:spcPts val="4081"/>
              </a:lnSpc>
              <a:buFont typeface="Arial"/>
              <a:buChar char="•"/>
            </a:pPr>
            <a:r>
              <a:rPr lang="en-US" sz="2915" spc="-58">
                <a:solidFill>
                  <a:srgbClr val="FFFFFF"/>
                </a:solidFill>
                <a:latin typeface="Canva Sans"/>
                <a:ea typeface="Canva Sans"/>
                <a:cs typeface="Canva Sans"/>
                <a:sym typeface="Canva Sans"/>
              </a:rPr>
              <a:t>Automation: A</a:t>
            </a:r>
            <a:r>
              <a:rPr lang="en-US" sz="2915" spc="-58">
                <a:solidFill>
                  <a:srgbClr val="FFFFFF"/>
                </a:solidFill>
                <a:latin typeface="Canva Sans"/>
                <a:ea typeface="Canva Sans"/>
                <a:cs typeface="Canva Sans"/>
                <a:sym typeface="Canva Sans"/>
              </a:rPr>
              <a:t>utomatically generate quiz questions from given text or topics, reducing manual effort.</a:t>
            </a:r>
          </a:p>
        </p:txBody>
      </p:sp>
      <p:sp>
        <p:nvSpPr>
          <p:cNvPr name="TextBox 6" id="6"/>
          <p:cNvSpPr txBox="true"/>
          <p:nvPr/>
        </p:nvSpPr>
        <p:spPr>
          <a:xfrm rot="0">
            <a:off x="1328816" y="3873748"/>
            <a:ext cx="15373350" cy="1002270"/>
          </a:xfrm>
          <a:prstGeom prst="rect">
            <a:avLst/>
          </a:prstGeom>
        </p:spPr>
        <p:txBody>
          <a:bodyPr anchor="t" rtlCol="false" tIns="0" lIns="0" bIns="0" rIns="0">
            <a:spAutoFit/>
          </a:bodyPr>
          <a:lstStyle/>
          <a:p>
            <a:pPr algn="l" marL="629464" indent="-314732" lvl="1">
              <a:lnSpc>
                <a:spcPts val="4081"/>
              </a:lnSpc>
              <a:buFont typeface="Arial"/>
              <a:buChar char="•"/>
            </a:pPr>
            <a:r>
              <a:rPr lang="en-US" sz="2915" spc="-58">
                <a:solidFill>
                  <a:srgbClr val="FFFFFF"/>
                </a:solidFill>
                <a:latin typeface="Canva Sans"/>
                <a:ea typeface="Canva Sans"/>
                <a:cs typeface="Canva Sans"/>
                <a:sym typeface="Canva Sans"/>
              </a:rPr>
              <a:t>Question Variety: Support different types of questions such as MCQs, True/False, and short answers.</a:t>
            </a:r>
          </a:p>
        </p:txBody>
      </p:sp>
      <p:sp>
        <p:nvSpPr>
          <p:cNvPr name="TextBox 7" id="7"/>
          <p:cNvSpPr txBox="true"/>
          <p:nvPr/>
        </p:nvSpPr>
        <p:spPr>
          <a:xfrm rot="0">
            <a:off x="1328816" y="5095875"/>
            <a:ext cx="15373350" cy="487920"/>
          </a:xfrm>
          <a:prstGeom prst="rect">
            <a:avLst/>
          </a:prstGeom>
        </p:spPr>
        <p:txBody>
          <a:bodyPr anchor="t" rtlCol="false" tIns="0" lIns="0" bIns="0" rIns="0">
            <a:spAutoFit/>
          </a:bodyPr>
          <a:lstStyle/>
          <a:p>
            <a:pPr algn="l" marL="629464" indent="-314732" lvl="1">
              <a:lnSpc>
                <a:spcPts val="4081"/>
              </a:lnSpc>
              <a:buFont typeface="Arial"/>
              <a:buChar char="•"/>
            </a:pPr>
            <a:r>
              <a:rPr lang="en-US" sz="2915" spc="-58">
                <a:solidFill>
                  <a:srgbClr val="FFFFFF"/>
                </a:solidFill>
                <a:latin typeface="Canva Sans"/>
                <a:ea typeface="Canva Sans"/>
                <a:cs typeface="Canva Sans"/>
                <a:sym typeface="Canva Sans"/>
              </a:rPr>
              <a:t>Efficiency:  Save time and speed up the quiz creation process.</a:t>
            </a:r>
          </a:p>
        </p:txBody>
      </p:sp>
      <p:sp>
        <p:nvSpPr>
          <p:cNvPr name="TextBox 8" id="8"/>
          <p:cNvSpPr txBox="true"/>
          <p:nvPr/>
        </p:nvSpPr>
        <p:spPr>
          <a:xfrm rot="0">
            <a:off x="1328816" y="5795851"/>
            <a:ext cx="15373350" cy="487920"/>
          </a:xfrm>
          <a:prstGeom prst="rect">
            <a:avLst/>
          </a:prstGeom>
        </p:spPr>
        <p:txBody>
          <a:bodyPr anchor="t" rtlCol="false" tIns="0" lIns="0" bIns="0" rIns="0">
            <a:spAutoFit/>
          </a:bodyPr>
          <a:lstStyle/>
          <a:p>
            <a:pPr algn="l" marL="629464" indent="-314732" lvl="1">
              <a:lnSpc>
                <a:spcPts val="4081"/>
              </a:lnSpc>
              <a:buFont typeface="Arial"/>
              <a:buChar char="•"/>
            </a:pPr>
            <a:r>
              <a:rPr lang="en-US" sz="2915" spc="-58">
                <a:solidFill>
                  <a:srgbClr val="FFFFFF"/>
                </a:solidFill>
                <a:latin typeface="Canva Sans"/>
                <a:ea typeface="Canva Sans"/>
                <a:cs typeface="Canva Sans"/>
                <a:sym typeface="Canva Sans"/>
              </a:rPr>
              <a:t>User-Friendly: D</a:t>
            </a:r>
            <a:r>
              <a:rPr lang="en-US" sz="2915" spc="-58">
                <a:solidFill>
                  <a:srgbClr val="FFFFFF"/>
                </a:solidFill>
                <a:latin typeface="Canva Sans"/>
                <a:ea typeface="Canva Sans"/>
                <a:cs typeface="Canva Sans"/>
                <a:sym typeface="Canva Sans"/>
              </a:rPr>
              <a:t>esign a simple and easy-to-use interface for users.</a:t>
            </a:r>
          </a:p>
        </p:txBody>
      </p:sp>
      <p:sp>
        <p:nvSpPr>
          <p:cNvPr name="TextBox 9" id="9"/>
          <p:cNvSpPr txBox="true"/>
          <p:nvPr/>
        </p:nvSpPr>
        <p:spPr>
          <a:xfrm rot="0">
            <a:off x="1328816" y="6417121"/>
            <a:ext cx="15373350" cy="1002270"/>
          </a:xfrm>
          <a:prstGeom prst="rect">
            <a:avLst/>
          </a:prstGeom>
        </p:spPr>
        <p:txBody>
          <a:bodyPr anchor="t" rtlCol="false" tIns="0" lIns="0" bIns="0" rIns="0">
            <a:spAutoFit/>
          </a:bodyPr>
          <a:lstStyle/>
          <a:p>
            <a:pPr algn="l" marL="629464" indent="-314732" lvl="1">
              <a:lnSpc>
                <a:spcPts val="4081"/>
              </a:lnSpc>
              <a:buFont typeface="Arial"/>
              <a:buChar char="•"/>
            </a:pPr>
            <a:r>
              <a:rPr lang="en-US" sz="2915" spc="-58">
                <a:solidFill>
                  <a:srgbClr val="FFFFFF"/>
                </a:solidFill>
                <a:latin typeface="Canva Sans"/>
                <a:ea typeface="Canva Sans"/>
                <a:cs typeface="Canva Sans"/>
                <a:sym typeface="Canva Sans"/>
              </a:rPr>
              <a:t>NLP Integration: T</a:t>
            </a:r>
            <a:r>
              <a:rPr lang="en-US" sz="2915" spc="-58">
                <a:solidFill>
                  <a:srgbClr val="FFFFFF"/>
                </a:solidFill>
                <a:latin typeface="Canva Sans"/>
                <a:ea typeface="Canva Sans"/>
                <a:cs typeface="Canva Sans"/>
                <a:sym typeface="Canva Sans"/>
              </a:rPr>
              <a:t>o use Natural Language Processing techniques for extracting key information from input text.</a:t>
            </a:r>
          </a:p>
        </p:txBody>
      </p:sp>
      <p:sp>
        <p:nvSpPr>
          <p:cNvPr name="TextBox 10" id="10"/>
          <p:cNvSpPr txBox="true"/>
          <p:nvPr/>
        </p:nvSpPr>
        <p:spPr>
          <a:xfrm rot="0">
            <a:off x="1328816" y="7502725"/>
            <a:ext cx="15373350" cy="1002270"/>
          </a:xfrm>
          <a:prstGeom prst="rect">
            <a:avLst/>
          </a:prstGeom>
        </p:spPr>
        <p:txBody>
          <a:bodyPr anchor="t" rtlCol="false" tIns="0" lIns="0" bIns="0" rIns="0">
            <a:spAutoFit/>
          </a:bodyPr>
          <a:lstStyle/>
          <a:p>
            <a:pPr algn="l" marL="629464" indent="-314732" lvl="1">
              <a:lnSpc>
                <a:spcPts val="4081"/>
              </a:lnSpc>
              <a:buFont typeface="Arial"/>
              <a:buChar char="•"/>
            </a:pPr>
            <a:r>
              <a:rPr lang="en-US" sz="2915" spc="-58">
                <a:solidFill>
                  <a:srgbClr val="FFFFFF"/>
                </a:solidFill>
                <a:latin typeface="Canva Sans"/>
                <a:ea typeface="Canva Sans"/>
                <a:cs typeface="Canva Sans"/>
                <a:sym typeface="Canva Sans"/>
              </a:rPr>
              <a:t>Learning Enhancement: I</a:t>
            </a:r>
            <a:r>
              <a:rPr lang="en-US" sz="2915" spc="-58">
                <a:solidFill>
                  <a:srgbClr val="FFFFFF"/>
                </a:solidFill>
                <a:latin typeface="Canva Sans"/>
                <a:ea typeface="Canva Sans"/>
                <a:cs typeface="Canva Sans"/>
                <a:sym typeface="Canva Sans"/>
              </a:rPr>
              <a:t>mprove the learning experience through quick and interactive assessments.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45C72"/>
        </a:solidFill>
      </p:bgPr>
    </p:bg>
    <p:spTree>
      <p:nvGrpSpPr>
        <p:cNvPr id="1" name=""/>
        <p:cNvGrpSpPr/>
        <p:nvPr/>
      </p:nvGrpSpPr>
      <p:grpSpPr>
        <a:xfrm>
          <a:off x="0" y="0"/>
          <a:ext cx="0" cy="0"/>
          <a:chOff x="0" y="0"/>
          <a:chExt cx="0" cy="0"/>
        </a:xfrm>
      </p:grpSpPr>
      <p:sp>
        <p:nvSpPr>
          <p:cNvPr name="Freeform 2" id="2"/>
          <p:cNvSpPr/>
          <p:nvPr/>
        </p:nvSpPr>
        <p:spPr>
          <a:xfrm flipH="false" flipV="false" rot="0">
            <a:off x="256689" y="3324880"/>
            <a:ext cx="3930247" cy="2589854"/>
          </a:xfrm>
          <a:custGeom>
            <a:avLst/>
            <a:gdLst/>
            <a:ahLst/>
            <a:cxnLst/>
            <a:rect r="r" b="b" t="t" l="l"/>
            <a:pathLst>
              <a:path h="2589854" w="3930247">
                <a:moveTo>
                  <a:pt x="0" y="0"/>
                </a:moveTo>
                <a:lnTo>
                  <a:pt x="3930246" y="0"/>
                </a:lnTo>
                <a:lnTo>
                  <a:pt x="3930246" y="2589854"/>
                </a:lnTo>
                <a:lnTo>
                  <a:pt x="0" y="25898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920360" y="3304294"/>
            <a:ext cx="3930247" cy="2589854"/>
          </a:xfrm>
          <a:custGeom>
            <a:avLst/>
            <a:gdLst/>
            <a:ahLst/>
            <a:cxnLst/>
            <a:rect r="r" b="b" t="t" l="l"/>
            <a:pathLst>
              <a:path h="2589854" w="3930247">
                <a:moveTo>
                  <a:pt x="0" y="0"/>
                </a:moveTo>
                <a:lnTo>
                  <a:pt x="3930247" y="0"/>
                </a:lnTo>
                <a:lnTo>
                  <a:pt x="3930247" y="2589854"/>
                </a:lnTo>
                <a:lnTo>
                  <a:pt x="0" y="25898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594405" y="3332591"/>
            <a:ext cx="3930247" cy="2589854"/>
          </a:xfrm>
          <a:custGeom>
            <a:avLst/>
            <a:gdLst/>
            <a:ahLst/>
            <a:cxnLst/>
            <a:rect r="r" b="b" t="t" l="l"/>
            <a:pathLst>
              <a:path h="2589854" w="3930247">
                <a:moveTo>
                  <a:pt x="0" y="0"/>
                </a:moveTo>
                <a:lnTo>
                  <a:pt x="3930247" y="0"/>
                </a:lnTo>
                <a:lnTo>
                  <a:pt x="3930247" y="2589854"/>
                </a:lnTo>
                <a:lnTo>
                  <a:pt x="0" y="25898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47164" y="6992296"/>
            <a:ext cx="3930247" cy="2589854"/>
          </a:xfrm>
          <a:custGeom>
            <a:avLst/>
            <a:gdLst/>
            <a:ahLst/>
            <a:cxnLst/>
            <a:rect r="r" b="b" t="t" l="l"/>
            <a:pathLst>
              <a:path h="2589854" w="3930247">
                <a:moveTo>
                  <a:pt x="0" y="0"/>
                </a:moveTo>
                <a:lnTo>
                  <a:pt x="3930246" y="0"/>
                </a:lnTo>
                <a:lnTo>
                  <a:pt x="3930246" y="2589854"/>
                </a:lnTo>
                <a:lnTo>
                  <a:pt x="0" y="25898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920360" y="6992296"/>
            <a:ext cx="3930247" cy="2589854"/>
          </a:xfrm>
          <a:custGeom>
            <a:avLst/>
            <a:gdLst/>
            <a:ahLst/>
            <a:cxnLst/>
            <a:rect r="r" b="b" t="t" l="l"/>
            <a:pathLst>
              <a:path h="2589854" w="3930247">
                <a:moveTo>
                  <a:pt x="0" y="0"/>
                </a:moveTo>
                <a:lnTo>
                  <a:pt x="3930247" y="0"/>
                </a:lnTo>
                <a:lnTo>
                  <a:pt x="3930247" y="2589854"/>
                </a:lnTo>
                <a:lnTo>
                  <a:pt x="0" y="25898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9594405" y="6992296"/>
            <a:ext cx="3930247" cy="2589854"/>
          </a:xfrm>
          <a:custGeom>
            <a:avLst/>
            <a:gdLst/>
            <a:ahLst/>
            <a:cxnLst/>
            <a:rect r="r" b="b" t="t" l="l"/>
            <a:pathLst>
              <a:path h="2589854" w="3930247">
                <a:moveTo>
                  <a:pt x="0" y="0"/>
                </a:moveTo>
                <a:lnTo>
                  <a:pt x="3930247" y="0"/>
                </a:lnTo>
                <a:lnTo>
                  <a:pt x="3930247" y="2589854"/>
                </a:lnTo>
                <a:lnTo>
                  <a:pt x="0" y="25898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077102" y="3332591"/>
            <a:ext cx="3930247" cy="2589854"/>
          </a:xfrm>
          <a:custGeom>
            <a:avLst/>
            <a:gdLst/>
            <a:ahLst/>
            <a:cxnLst/>
            <a:rect r="r" b="b" t="t" l="l"/>
            <a:pathLst>
              <a:path h="2589854" w="3930247">
                <a:moveTo>
                  <a:pt x="0" y="0"/>
                </a:moveTo>
                <a:lnTo>
                  <a:pt x="3930247" y="0"/>
                </a:lnTo>
                <a:lnTo>
                  <a:pt x="3930247" y="2589854"/>
                </a:lnTo>
                <a:lnTo>
                  <a:pt x="0" y="25898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077102" y="6992296"/>
            <a:ext cx="3930247" cy="2589854"/>
          </a:xfrm>
          <a:custGeom>
            <a:avLst/>
            <a:gdLst/>
            <a:ahLst/>
            <a:cxnLst/>
            <a:rect r="r" b="b" t="t" l="l"/>
            <a:pathLst>
              <a:path h="2589854" w="3930247">
                <a:moveTo>
                  <a:pt x="0" y="0"/>
                </a:moveTo>
                <a:lnTo>
                  <a:pt x="3930247" y="0"/>
                </a:lnTo>
                <a:lnTo>
                  <a:pt x="3930247" y="2589854"/>
                </a:lnTo>
                <a:lnTo>
                  <a:pt x="0" y="25898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0" y="134489"/>
            <a:ext cx="3538580" cy="2059440"/>
          </a:xfrm>
          <a:custGeom>
            <a:avLst/>
            <a:gdLst/>
            <a:ahLst/>
            <a:cxnLst/>
            <a:rect r="r" b="b" t="t" l="l"/>
            <a:pathLst>
              <a:path h="2059440" w="3538580">
                <a:moveTo>
                  <a:pt x="0" y="0"/>
                </a:moveTo>
                <a:lnTo>
                  <a:pt x="3538580" y="0"/>
                </a:lnTo>
                <a:lnTo>
                  <a:pt x="3538580" y="2059440"/>
                </a:lnTo>
                <a:lnTo>
                  <a:pt x="0" y="2059440"/>
                </a:lnTo>
                <a:lnTo>
                  <a:pt x="0" y="0"/>
                </a:lnTo>
                <a:close/>
              </a:path>
            </a:pathLst>
          </a:custGeom>
          <a:blipFill>
            <a:blip r:embed="rId4">
              <a:alphaModFix amt="54000"/>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4564277" y="999523"/>
            <a:ext cx="8960375" cy="1024326"/>
          </a:xfrm>
          <a:prstGeom prst="rect">
            <a:avLst/>
          </a:prstGeom>
        </p:spPr>
        <p:txBody>
          <a:bodyPr anchor="t" rtlCol="false" tIns="0" lIns="0" bIns="0" rIns="0">
            <a:spAutoFit/>
          </a:bodyPr>
          <a:lstStyle/>
          <a:p>
            <a:pPr algn="ctr">
              <a:lnSpc>
                <a:spcPts val="7437"/>
              </a:lnSpc>
            </a:pPr>
            <a:r>
              <a:rPr lang="en-US" sz="8356" spc="-167">
                <a:solidFill>
                  <a:srgbClr val="FFFFFF"/>
                </a:solidFill>
                <a:latin typeface="Canva Sans"/>
                <a:ea typeface="Canva Sans"/>
                <a:cs typeface="Canva Sans"/>
                <a:sym typeface="Canva Sans"/>
              </a:rPr>
              <a:t>Methodology</a:t>
            </a:r>
          </a:p>
        </p:txBody>
      </p:sp>
      <p:sp>
        <p:nvSpPr>
          <p:cNvPr name="TextBox 12" id="12"/>
          <p:cNvSpPr txBox="true"/>
          <p:nvPr/>
        </p:nvSpPr>
        <p:spPr>
          <a:xfrm rot="0">
            <a:off x="437664" y="2365379"/>
            <a:ext cx="3930247" cy="922591"/>
          </a:xfrm>
          <a:prstGeom prst="rect">
            <a:avLst/>
          </a:prstGeom>
        </p:spPr>
        <p:txBody>
          <a:bodyPr anchor="t" rtlCol="false" tIns="0" lIns="0" bIns="0" rIns="0">
            <a:spAutoFit/>
          </a:bodyPr>
          <a:lstStyle/>
          <a:p>
            <a:pPr algn="ctr">
              <a:lnSpc>
                <a:spcPts val="3748"/>
              </a:lnSpc>
              <a:spcBef>
                <a:spcPct val="0"/>
              </a:spcBef>
            </a:pPr>
            <a:r>
              <a:rPr lang="en-US" b="true" sz="2677" spc="-53">
                <a:solidFill>
                  <a:srgbClr val="FFFFFF"/>
                </a:solidFill>
                <a:latin typeface="Canva Sans Bold"/>
                <a:ea typeface="Canva Sans Bold"/>
                <a:cs typeface="Canva Sans Bold"/>
                <a:sym typeface="Canva Sans Bold"/>
              </a:rPr>
              <a:t>Inp</a:t>
            </a:r>
            <a:r>
              <a:rPr lang="en-US" b="true" sz="2677" spc="-53">
                <a:solidFill>
                  <a:srgbClr val="FFFFFF"/>
                </a:solidFill>
                <a:latin typeface="Canva Sans Bold"/>
                <a:ea typeface="Canva Sans Bold"/>
                <a:cs typeface="Canva Sans Bold"/>
                <a:sym typeface="Canva Sans Bold"/>
              </a:rPr>
              <a:t>ut Acquisition:</a:t>
            </a:r>
          </a:p>
          <a:p>
            <a:pPr algn="ctr">
              <a:lnSpc>
                <a:spcPts val="3748"/>
              </a:lnSpc>
              <a:spcBef>
                <a:spcPct val="0"/>
              </a:spcBef>
            </a:pPr>
          </a:p>
        </p:txBody>
      </p:sp>
      <p:sp>
        <p:nvSpPr>
          <p:cNvPr name="TextBox 13" id="13"/>
          <p:cNvSpPr txBox="true"/>
          <p:nvPr/>
        </p:nvSpPr>
        <p:spPr>
          <a:xfrm rot="0">
            <a:off x="553654" y="3810473"/>
            <a:ext cx="3336316" cy="1580568"/>
          </a:xfrm>
          <a:prstGeom prst="rect">
            <a:avLst/>
          </a:prstGeom>
        </p:spPr>
        <p:txBody>
          <a:bodyPr anchor="t" rtlCol="false" tIns="0" lIns="0" bIns="0" rIns="0">
            <a:spAutoFit/>
          </a:bodyPr>
          <a:lstStyle/>
          <a:p>
            <a:pPr algn="ctr">
              <a:lnSpc>
                <a:spcPts val="3182"/>
              </a:lnSpc>
              <a:spcBef>
                <a:spcPct val="0"/>
              </a:spcBef>
            </a:pPr>
            <a:r>
              <a:rPr lang="en-US" b="true" sz="2272" spc="-45">
                <a:solidFill>
                  <a:srgbClr val="332C2B"/>
                </a:solidFill>
                <a:latin typeface="Canva Sans Bold"/>
                <a:ea typeface="Canva Sans Bold"/>
                <a:cs typeface="Canva Sans Bold"/>
                <a:sym typeface="Canva Sans Bold"/>
              </a:rPr>
              <a:t>Use</a:t>
            </a:r>
            <a:r>
              <a:rPr lang="en-US" b="true" sz="2272" spc="-45">
                <a:solidFill>
                  <a:srgbClr val="332C2B"/>
                </a:solidFill>
                <a:latin typeface="Canva Sans Bold"/>
                <a:ea typeface="Canva Sans Bold"/>
                <a:cs typeface="Canva Sans Bold"/>
                <a:sym typeface="Canva Sans Bold"/>
              </a:rPr>
              <a:t>r provides input in the form of text, document (PDF), or a specific topic</a:t>
            </a:r>
          </a:p>
        </p:txBody>
      </p:sp>
      <p:sp>
        <p:nvSpPr>
          <p:cNvPr name="TextBox 14" id="14"/>
          <p:cNvSpPr txBox="true"/>
          <p:nvPr/>
        </p:nvSpPr>
        <p:spPr>
          <a:xfrm rot="0">
            <a:off x="4920360" y="2399384"/>
            <a:ext cx="3930247" cy="455866"/>
          </a:xfrm>
          <a:prstGeom prst="rect">
            <a:avLst/>
          </a:prstGeom>
        </p:spPr>
        <p:txBody>
          <a:bodyPr anchor="t" rtlCol="false" tIns="0" lIns="0" bIns="0" rIns="0">
            <a:spAutoFit/>
          </a:bodyPr>
          <a:lstStyle/>
          <a:p>
            <a:pPr algn="ctr">
              <a:lnSpc>
                <a:spcPts val="3748"/>
              </a:lnSpc>
              <a:spcBef>
                <a:spcPct val="0"/>
              </a:spcBef>
            </a:pPr>
            <a:r>
              <a:rPr lang="en-US" b="true" sz="2677" spc="-53">
                <a:solidFill>
                  <a:srgbClr val="FFFFFF"/>
                </a:solidFill>
                <a:latin typeface="Canva Sans Bold"/>
                <a:ea typeface="Canva Sans Bold"/>
                <a:cs typeface="Canva Sans Bold"/>
                <a:sym typeface="Canva Sans Bold"/>
              </a:rPr>
              <a:t>Text P</a:t>
            </a:r>
            <a:r>
              <a:rPr lang="en-US" b="true" sz="2677" spc="-53">
                <a:solidFill>
                  <a:srgbClr val="FFFFFF"/>
                </a:solidFill>
                <a:latin typeface="Canva Sans Bold"/>
                <a:ea typeface="Canva Sans Bold"/>
                <a:cs typeface="Canva Sans Bold"/>
                <a:sym typeface="Canva Sans Bold"/>
              </a:rPr>
              <a:t>reprocessing: </a:t>
            </a:r>
          </a:p>
        </p:txBody>
      </p:sp>
      <p:sp>
        <p:nvSpPr>
          <p:cNvPr name="TextBox 15" id="15"/>
          <p:cNvSpPr txBox="true"/>
          <p:nvPr/>
        </p:nvSpPr>
        <p:spPr>
          <a:xfrm rot="0">
            <a:off x="5297953" y="3589829"/>
            <a:ext cx="3244591" cy="1980685"/>
          </a:xfrm>
          <a:prstGeom prst="rect">
            <a:avLst/>
          </a:prstGeom>
        </p:spPr>
        <p:txBody>
          <a:bodyPr anchor="t" rtlCol="false" tIns="0" lIns="0" bIns="0" rIns="0">
            <a:spAutoFit/>
          </a:bodyPr>
          <a:lstStyle/>
          <a:p>
            <a:pPr algn="ctr">
              <a:lnSpc>
                <a:spcPts val="3178"/>
              </a:lnSpc>
              <a:spcBef>
                <a:spcPct val="0"/>
              </a:spcBef>
            </a:pPr>
            <a:r>
              <a:rPr lang="en-US" b="true" sz="2270" spc="-45">
                <a:solidFill>
                  <a:srgbClr val="2A2E30"/>
                </a:solidFill>
                <a:latin typeface="Canva Sans Bold"/>
                <a:ea typeface="Canva Sans Bold"/>
                <a:cs typeface="Canva Sans Bold"/>
                <a:sym typeface="Canva Sans Bold"/>
              </a:rPr>
              <a:t>Clean and normalize data (tokenization, stop-word removal, sentence segmentation)</a:t>
            </a:r>
          </a:p>
        </p:txBody>
      </p:sp>
      <p:sp>
        <p:nvSpPr>
          <p:cNvPr name="TextBox 16" id="16"/>
          <p:cNvSpPr txBox="true"/>
          <p:nvPr/>
        </p:nvSpPr>
        <p:spPr>
          <a:xfrm rot="0">
            <a:off x="9665333" y="2399384"/>
            <a:ext cx="3930247" cy="455866"/>
          </a:xfrm>
          <a:prstGeom prst="rect">
            <a:avLst/>
          </a:prstGeom>
        </p:spPr>
        <p:txBody>
          <a:bodyPr anchor="t" rtlCol="false" tIns="0" lIns="0" bIns="0" rIns="0">
            <a:spAutoFit/>
          </a:bodyPr>
          <a:lstStyle/>
          <a:p>
            <a:pPr algn="ctr">
              <a:lnSpc>
                <a:spcPts val="3748"/>
              </a:lnSpc>
              <a:spcBef>
                <a:spcPct val="0"/>
              </a:spcBef>
            </a:pPr>
            <a:r>
              <a:rPr lang="en-US" b="true" sz="2677" spc="-53">
                <a:solidFill>
                  <a:srgbClr val="FFFFFF"/>
                </a:solidFill>
                <a:latin typeface="Canva Sans Bold"/>
                <a:ea typeface="Canva Sans Bold"/>
                <a:cs typeface="Canva Sans Bold"/>
                <a:sym typeface="Canva Sans Bold"/>
              </a:rPr>
              <a:t>C</a:t>
            </a:r>
            <a:r>
              <a:rPr lang="en-US" b="true" sz="2677" spc="-53">
                <a:solidFill>
                  <a:srgbClr val="FFFFFF"/>
                </a:solidFill>
                <a:latin typeface="Canva Sans Bold"/>
                <a:ea typeface="Canva Sans Bold"/>
                <a:cs typeface="Canva Sans Bold"/>
                <a:sym typeface="Canva Sans Bold"/>
              </a:rPr>
              <a:t>ontent Analysis: </a:t>
            </a:r>
          </a:p>
        </p:txBody>
      </p:sp>
      <p:sp>
        <p:nvSpPr>
          <p:cNvPr name="TextBox 17" id="17"/>
          <p:cNvSpPr txBox="true"/>
          <p:nvPr/>
        </p:nvSpPr>
        <p:spPr>
          <a:xfrm rot="0">
            <a:off x="9902468" y="3818147"/>
            <a:ext cx="3314122" cy="1580642"/>
          </a:xfrm>
          <a:prstGeom prst="rect">
            <a:avLst/>
          </a:prstGeom>
        </p:spPr>
        <p:txBody>
          <a:bodyPr anchor="t" rtlCol="false" tIns="0" lIns="0" bIns="0" rIns="0">
            <a:spAutoFit/>
          </a:bodyPr>
          <a:lstStyle/>
          <a:p>
            <a:pPr algn="ctr">
              <a:lnSpc>
                <a:spcPts val="3178"/>
              </a:lnSpc>
              <a:spcBef>
                <a:spcPct val="0"/>
              </a:spcBef>
            </a:pPr>
            <a:r>
              <a:rPr lang="en-US" b="true" sz="2270" spc="-45">
                <a:solidFill>
                  <a:srgbClr val="2A2E30"/>
                </a:solidFill>
                <a:latin typeface="Canva Sans Bold"/>
                <a:ea typeface="Canva Sans Bold"/>
                <a:cs typeface="Canva Sans Bold"/>
                <a:sym typeface="Canva Sans Bold"/>
              </a:rPr>
              <a:t>Apply NLP techniques t</a:t>
            </a:r>
            <a:r>
              <a:rPr lang="en-US" b="true" sz="2270" spc="-45">
                <a:solidFill>
                  <a:srgbClr val="2A2E30"/>
                </a:solidFill>
                <a:latin typeface="Canva Sans Bold"/>
                <a:ea typeface="Canva Sans Bold"/>
                <a:cs typeface="Canva Sans Bold"/>
                <a:sym typeface="Canva Sans Bold"/>
              </a:rPr>
              <a:t>o extract key concepts, entities, and important sentences</a:t>
            </a:r>
          </a:p>
        </p:txBody>
      </p:sp>
      <p:sp>
        <p:nvSpPr>
          <p:cNvPr name="TextBox 18" id="18"/>
          <p:cNvSpPr txBox="true"/>
          <p:nvPr/>
        </p:nvSpPr>
        <p:spPr>
          <a:xfrm rot="0">
            <a:off x="14410306" y="2408909"/>
            <a:ext cx="3400578" cy="895386"/>
          </a:xfrm>
          <a:prstGeom prst="rect">
            <a:avLst/>
          </a:prstGeom>
        </p:spPr>
        <p:txBody>
          <a:bodyPr anchor="t" rtlCol="false" tIns="0" lIns="0" bIns="0" rIns="0">
            <a:spAutoFit/>
          </a:bodyPr>
          <a:lstStyle/>
          <a:p>
            <a:pPr algn="ctr">
              <a:lnSpc>
                <a:spcPts val="3673"/>
              </a:lnSpc>
              <a:spcBef>
                <a:spcPct val="0"/>
              </a:spcBef>
            </a:pPr>
            <a:r>
              <a:rPr lang="en-US" b="true" sz="2623" spc="-52">
                <a:solidFill>
                  <a:srgbClr val="FFFFFF"/>
                </a:solidFill>
                <a:latin typeface="Canva Sans Bold"/>
                <a:ea typeface="Canva Sans Bold"/>
                <a:cs typeface="Canva Sans Bold"/>
                <a:sym typeface="Canva Sans Bold"/>
              </a:rPr>
              <a:t>Questi</a:t>
            </a:r>
            <a:r>
              <a:rPr lang="en-US" b="true" sz="2623" spc="-52">
                <a:solidFill>
                  <a:srgbClr val="FFFFFF"/>
                </a:solidFill>
                <a:latin typeface="Canva Sans Bold"/>
                <a:ea typeface="Canva Sans Bold"/>
                <a:cs typeface="Canva Sans Bold"/>
                <a:sym typeface="Canva Sans Bold"/>
              </a:rPr>
              <a:t>on Generation Model: </a:t>
            </a:r>
          </a:p>
        </p:txBody>
      </p:sp>
      <p:sp>
        <p:nvSpPr>
          <p:cNvPr name="TextBox 19" id="19"/>
          <p:cNvSpPr txBox="true"/>
          <p:nvPr/>
        </p:nvSpPr>
        <p:spPr>
          <a:xfrm rot="0">
            <a:off x="14473963" y="3779828"/>
            <a:ext cx="3273265" cy="1580642"/>
          </a:xfrm>
          <a:prstGeom prst="rect">
            <a:avLst/>
          </a:prstGeom>
        </p:spPr>
        <p:txBody>
          <a:bodyPr anchor="t" rtlCol="false" tIns="0" lIns="0" bIns="0" rIns="0">
            <a:spAutoFit/>
          </a:bodyPr>
          <a:lstStyle/>
          <a:p>
            <a:pPr algn="ctr">
              <a:lnSpc>
                <a:spcPts val="3178"/>
              </a:lnSpc>
              <a:spcBef>
                <a:spcPct val="0"/>
              </a:spcBef>
            </a:pPr>
            <a:r>
              <a:rPr lang="en-US" b="true" sz="2270" spc="-45">
                <a:solidFill>
                  <a:srgbClr val="2A2E30"/>
                </a:solidFill>
                <a:latin typeface="Canva Sans Bold"/>
                <a:ea typeface="Canva Sans Bold"/>
                <a:cs typeface="Canva Sans Bold"/>
                <a:sym typeface="Canva Sans Bold"/>
              </a:rPr>
              <a:t>Use r</a:t>
            </a:r>
            <a:r>
              <a:rPr lang="en-US" b="true" sz="2270" spc="-45">
                <a:solidFill>
                  <a:srgbClr val="2A2E30"/>
                </a:solidFill>
                <a:latin typeface="Canva Sans Bold"/>
                <a:ea typeface="Canva Sans Bold"/>
                <a:cs typeface="Canva Sans Bold"/>
                <a:sym typeface="Canva Sans Bold"/>
              </a:rPr>
              <a:t>ule-based and/or machine learning models to generate meaningful questions</a:t>
            </a:r>
          </a:p>
        </p:txBody>
      </p:sp>
      <p:sp>
        <p:nvSpPr>
          <p:cNvPr name="TextBox 20" id="20"/>
          <p:cNvSpPr txBox="true"/>
          <p:nvPr/>
        </p:nvSpPr>
        <p:spPr>
          <a:xfrm rot="0">
            <a:off x="247164" y="6284673"/>
            <a:ext cx="3930247" cy="481302"/>
          </a:xfrm>
          <a:prstGeom prst="rect">
            <a:avLst/>
          </a:prstGeom>
        </p:spPr>
        <p:txBody>
          <a:bodyPr anchor="t" rtlCol="false" tIns="0" lIns="0" bIns="0" rIns="0">
            <a:spAutoFit/>
          </a:bodyPr>
          <a:lstStyle/>
          <a:p>
            <a:pPr algn="ctr">
              <a:lnSpc>
                <a:spcPts val="3921"/>
              </a:lnSpc>
              <a:spcBef>
                <a:spcPct val="0"/>
              </a:spcBef>
            </a:pPr>
            <a:r>
              <a:rPr lang="en-US" b="true" sz="2801" spc="-56">
                <a:solidFill>
                  <a:srgbClr val="FFFFFF"/>
                </a:solidFill>
                <a:latin typeface="Canva Sans Bold"/>
                <a:ea typeface="Canva Sans Bold"/>
                <a:cs typeface="Canva Sans Bold"/>
                <a:sym typeface="Canva Sans Bold"/>
              </a:rPr>
              <a:t>Answe</a:t>
            </a:r>
            <a:r>
              <a:rPr lang="en-US" b="true" sz="2801" spc="-56">
                <a:solidFill>
                  <a:srgbClr val="FFFFFF"/>
                </a:solidFill>
                <a:latin typeface="Canva Sans Bold"/>
                <a:ea typeface="Canva Sans Bold"/>
                <a:cs typeface="Canva Sans Bold"/>
                <a:sym typeface="Canva Sans Bold"/>
              </a:rPr>
              <a:t>r Extraction:</a:t>
            </a:r>
          </a:p>
        </p:txBody>
      </p:sp>
      <p:sp>
        <p:nvSpPr>
          <p:cNvPr name="TextBox 21" id="21"/>
          <p:cNvSpPr txBox="true"/>
          <p:nvPr/>
        </p:nvSpPr>
        <p:spPr>
          <a:xfrm rot="0">
            <a:off x="466239" y="7596435"/>
            <a:ext cx="3511147" cy="1180592"/>
          </a:xfrm>
          <a:prstGeom prst="rect">
            <a:avLst/>
          </a:prstGeom>
        </p:spPr>
        <p:txBody>
          <a:bodyPr anchor="t" rtlCol="false" tIns="0" lIns="0" bIns="0" rIns="0">
            <a:spAutoFit/>
          </a:bodyPr>
          <a:lstStyle/>
          <a:p>
            <a:pPr algn="ctr">
              <a:lnSpc>
                <a:spcPts val="3178"/>
              </a:lnSpc>
              <a:spcBef>
                <a:spcPct val="0"/>
              </a:spcBef>
            </a:pPr>
            <a:r>
              <a:rPr lang="en-US" b="true" sz="2270" spc="-45">
                <a:solidFill>
                  <a:srgbClr val="2A2E30"/>
                </a:solidFill>
                <a:latin typeface="Canva Sans Bold"/>
                <a:ea typeface="Canva Sans Bold"/>
                <a:cs typeface="Canva Sans Bold"/>
                <a:sym typeface="Canva Sans Bold"/>
              </a:rPr>
              <a:t>Identify </a:t>
            </a:r>
            <a:r>
              <a:rPr lang="en-US" b="true" sz="2270" spc="-45">
                <a:solidFill>
                  <a:srgbClr val="2A2E30"/>
                </a:solidFill>
                <a:latin typeface="Canva Sans Bold"/>
                <a:ea typeface="Canva Sans Bold"/>
                <a:cs typeface="Canva Sans Bold"/>
                <a:sym typeface="Canva Sans Bold"/>
              </a:rPr>
              <a:t>or generate accurate answers from the processed content</a:t>
            </a:r>
          </a:p>
        </p:txBody>
      </p:sp>
      <p:sp>
        <p:nvSpPr>
          <p:cNvPr name="TextBox 22" id="22"/>
          <p:cNvSpPr txBox="true"/>
          <p:nvPr/>
        </p:nvSpPr>
        <p:spPr>
          <a:xfrm rot="0">
            <a:off x="4955126" y="6284673"/>
            <a:ext cx="3930247" cy="464792"/>
          </a:xfrm>
          <a:prstGeom prst="rect">
            <a:avLst/>
          </a:prstGeom>
        </p:spPr>
        <p:txBody>
          <a:bodyPr anchor="t" rtlCol="false" tIns="0" lIns="0" bIns="0" rIns="0">
            <a:spAutoFit/>
          </a:bodyPr>
          <a:lstStyle/>
          <a:p>
            <a:pPr algn="ctr">
              <a:lnSpc>
                <a:spcPts val="3781"/>
              </a:lnSpc>
              <a:spcBef>
                <a:spcPct val="0"/>
              </a:spcBef>
            </a:pPr>
            <a:r>
              <a:rPr lang="en-US" b="true" sz="2701" spc="-54">
                <a:solidFill>
                  <a:srgbClr val="FFFFFF"/>
                </a:solidFill>
                <a:latin typeface="Canva Sans Bold"/>
                <a:ea typeface="Canva Sans Bold"/>
                <a:cs typeface="Canva Sans Bold"/>
                <a:sym typeface="Canva Sans Bold"/>
              </a:rPr>
              <a:t>Questi</a:t>
            </a:r>
            <a:r>
              <a:rPr lang="en-US" b="true" sz="2701" spc="-54">
                <a:solidFill>
                  <a:srgbClr val="FFFFFF"/>
                </a:solidFill>
                <a:latin typeface="Canva Sans Bold"/>
                <a:ea typeface="Canva Sans Bold"/>
                <a:cs typeface="Canva Sans Bold"/>
                <a:sym typeface="Canva Sans Bold"/>
              </a:rPr>
              <a:t>on Classification: </a:t>
            </a:r>
          </a:p>
        </p:txBody>
      </p:sp>
      <p:sp>
        <p:nvSpPr>
          <p:cNvPr name="TextBox 23" id="23"/>
          <p:cNvSpPr txBox="true"/>
          <p:nvPr/>
        </p:nvSpPr>
        <p:spPr>
          <a:xfrm rot="0">
            <a:off x="5228423" y="7487596"/>
            <a:ext cx="3314122" cy="1580642"/>
          </a:xfrm>
          <a:prstGeom prst="rect">
            <a:avLst/>
          </a:prstGeom>
        </p:spPr>
        <p:txBody>
          <a:bodyPr anchor="t" rtlCol="false" tIns="0" lIns="0" bIns="0" rIns="0">
            <a:spAutoFit/>
          </a:bodyPr>
          <a:lstStyle/>
          <a:p>
            <a:pPr algn="ctr">
              <a:lnSpc>
                <a:spcPts val="3178"/>
              </a:lnSpc>
              <a:spcBef>
                <a:spcPct val="0"/>
              </a:spcBef>
            </a:pPr>
            <a:r>
              <a:rPr lang="en-US" b="true" sz="2270" spc="-45">
                <a:solidFill>
                  <a:srgbClr val="2A2E30"/>
                </a:solidFill>
                <a:latin typeface="Canva Sans Bold"/>
                <a:ea typeface="Canva Sans Bold"/>
                <a:cs typeface="Canva Sans Bold"/>
                <a:sym typeface="Canva Sans Bold"/>
              </a:rPr>
              <a:t>Categ</a:t>
            </a:r>
            <a:r>
              <a:rPr lang="en-US" b="true" sz="2270" spc="-45">
                <a:solidFill>
                  <a:srgbClr val="2A2E30"/>
                </a:solidFill>
                <a:latin typeface="Canva Sans Bold"/>
                <a:ea typeface="Canva Sans Bold"/>
                <a:cs typeface="Canva Sans Bold"/>
                <a:sym typeface="Canva Sans Bold"/>
              </a:rPr>
              <a:t>orize questions into types (MCQ, True/False, Short Answer)</a:t>
            </a:r>
          </a:p>
        </p:txBody>
      </p:sp>
      <p:sp>
        <p:nvSpPr>
          <p:cNvPr name="TextBox 24" id="24"/>
          <p:cNvSpPr txBox="true"/>
          <p:nvPr/>
        </p:nvSpPr>
        <p:spPr>
          <a:xfrm rot="0">
            <a:off x="9594405" y="6284673"/>
            <a:ext cx="3930247" cy="481302"/>
          </a:xfrm>
          <a:prstGeom prst="rect">
            <a:avLst/>
          </a:prstGeom>
        </p:spPr>
        <p:txBody>
          <a:bodyPr anchor="t" rtlCol="false" tIns="0" lIns="0" bIns="0" rIns="0">
            <a:spAutoFit/>
          </a:bodyPr>
          <a:lstStyle/>
          <a:p>
            <a:pPr algn="ctr">
              <a:lnSpc>
                <a:spcPts val="3921"/>
              </a:lnSpc>
              <a:spcBef>
                <a:spcPct val="0"/>
              </a:spcBef>
            </a:pPr>
            <a:r>
              <a:rPr lang="en-US" b="true" sz="2801" spc="-56">
                <a:solidFill>
                  <a:srgbClr val="FFFFFF"/>
                </a:solidFill>
                <a:latin typeface="Canva Sans Bold"/>
                <a:ea typeface="Canva Sans Bold"/>
                <a:cs typeface="Canva Sans Bold"/>
                <a:sym typeface="Canva Sans Bold"/>
              </a:rPr>
              <a:t>Q</a:t>
            </a:r>
            <a:r>
              <a:rPr lang="en-US" b="true" sz="2801" spc="-56">
                <a:solidFill>
                  <a:srgbClr val="FFFFFF"/>
                </a:solidFill>
                <a:latin typeface="Canva Sans Bold"/>
                <a:ea typeface="Canva Sans Bold"/>
                <a:cs typeface="Canva Sans Bold"/>
                <a:sym typeface="Canva Sans Bold"/>
              </a:rPr>
              <a:t>uiz Structuring:</a:t>
            </a:r>
          </a:p>
        </p:txBody>
      </p:sp>
      <p:sp>
        <p:nvSpPr>
          <p:cNvPr name="TextBox 25" id="25"/>
          <p:cNvSpPr txBox="true"/>
          <p:nvPr/>
        </p:nvSpPr>
        <p:spPr>
          <a:xfrm rot="0">
            <a:off x="10032074" y="7596435"/>
            <a:ext cx="3196765" cy="1180592"/>
          </a:xfrm>
          <a:prstGeom prst="rect">
            <a:avLst/>
          </a:prstGeom>
        </p:spPr>
        <p:txBody>
          <a:bodyPr anchor="t" rtlCol="false" tIns="0" lIns="0" bIns="0" rIns="0">
            <a:spAutoFit/>
          </a:bodyPr>
          <a:lstStyle/>
          <a:p>
            <a:pPr algn="ctr">
              <a:lnSpc>
                <a:spcPts val="3178"/>
              </a:lnSpc>
              <a:spcBef>
                <a:spcPct val="0"/>
              </a:spcBef>
            </a:pPr>
            <a:r>
              <a:rPr lang="en-US" b="true" sz="2270" spc="-45">
                <a:solidFill>
                  <a:srgbClr val="2A2E30"/>
                </a:solidFill>
                <a:latin typeface="Canva Sans Bold"/>
                <a:ea typeface="Canva Sans Bold"/>
                <a:cs typeface="Canva Sans Bold"/>
                <a:sym typeface="Canva Sans Bold"/>
              </a:rPr>
              <a:t>Organize q</a:t>
            </a:r>
            <a:r>
              <a:rPr lang="en-US" b="true" sz="2270" spc="-45">
                <a:solidFill>
                  <a:srgbClr val="2A2E30"/>
                </a:solidFill>
                <a:latin typeface="Canva Sans Bold"/>
                <a:ea typeface="Canva Sans Bold"/>
                <a:cs typeface="Canva Sans Bold"/>
                <a:sym typeface="Canva Sans Bold"/>
              </a:rPr>
              <a:t>uestions into a coherent and user-friendly quiz format</a:t>
            </a:r>
          </a:p>
        </p:txBody>
      </p:sp>
      <p:sp>
        <p:nvSpPr>
          <p:cNvPr name="TextBox 26" id="26"/>
          <p:cNvSpPr txBox="true"/>
          <p:nvPr/>
        </p:nvSpPr>
        <p:spPr>
          <a:xfrm rot="0">
            <a:off x="14145472" y="6284673"/>
            <a:ext cx="3930247" cy="481302"/>
          </a:xfrm>
          <a:prstGeom prst="rect">
            <a:avLst/>
          </a:prstGeom>
        </p:spPr>
        <p:txBody>
          <a:bodyPr anchor="t" rtlCol="false" tIns="0" lIns="0" bIns="0" rIns="0">
            <a:spAutoFit/>
          </a:bodyPr>
          <a:lstStyle/>
          <a:p>
            <a:pPr algn="ctr">
              <a:lnSpc>
                <a:spcPts val="3921"/>
              </a:lnSpc>
              <a:spcBef>
                <a:spcPct val="0"/>
              </a:spcBef>
            </a:pPr>
            <a:r>
              <a:rPr lang="en-US" b="true" sz="2801" spc="-56">
                <a:solidFill>
                  <a:srgbClr val="FFFFFF"/>
                </a:solidFill>
                <a:latin typeface="Canva Sans Bold"/>
                <a:ea typeface="Canva Sans Bold"/>
                <a:cs typeface="Canva Sans Bold"/>
                <a:sym typeface="Canva Sans Bold"/>
              </a:rPr>
              <a:t>O</a:t>
            </a:r>
            <a:r>
              <a:rPr lang="en-US" b="true" sz="2801" spc="-56">
                <a:solidFill>
                  <a:srgbClr val="FFFFFF"/>
                </a:solidFill>
                <a:latin typeface="Canva Sans Bold"/>
                <a:ea typeface="Canva Sans Bold"/>
                <a:cs typeface="Canva Sans Bold"/>
                <a:sym typeface="Canva Sans Bold"/>
              </a:rPr>
              <a:t>utput &amp; Interface: </a:t>
            </a:r>
          </a:p>
        </p:txBody>
      </p:sp>
      <p:sp>
        <p:nvSpPr>
          <p:cNvPr name="TextBox 27" id="27"/>
          <p:cNvSpPr txBox="true"/>
          <p:nvPr/>
        </p:nvSpPr>
        <p:spPr>
          <a:xfrm rot="0">
            <a:off x="14410306" y="7487596"/>
            <a:ext cx="3255443" cy="1580642"/>
          </a:xfrm>
          <a:prstGeom prst="rect">
            <a:avLst/>
          </a:prstGeom>
        </p:spPr>
        <p:txBody>
          <a:bodyPr anchor="t" rtlCol="false" tIns="0" lIns="0" bIns="0" rIns="0">
            <a:spAutoFit/>
          </a:bodyPr>
          <a:lstStyle/>
          <a:p>
            <a:pPr algn="ctr">
              <a:lnSpc>
                <a:spcPts val="3178"/>
              </a:lnSpc>
              <a:spcBef>
                <a:spcPct val="0"/>
              </a:spcBef>
            </a:pPr>
            <a:r>
              <a:rPr lang="en-US" b="true" sz="2270" spc="-45">
                <a:solidFill>
                  <a:srgbClr val="2A2E30"/>
                </a:solidFill>
                <a:latin typeface="Canva Sans Bold"/>
                <a:ea typeface="Canva Sans Bold"/>
                <a:cs typeface="Canva Sans Bold"/>
                <a:sym typeface="Canva Sans Bold"/>
              </a:rPr>
              <a:t>Display the generated quiz thr</a:t>
            </a:r>
            <a:r>
              <a:rPr lang="en-US" b="true" sz="2270" spc="-45">
                <a:solidFill>
                  <a:srgbClr val="2A2E30"/>
                </a:solidFill>
                <a:latin typeface="Canva Sans Bold"/>
                <a:ea typeface="Canva Sans Bold"/>
                <a:cs typeface="Canva Sans Bold"/>
                <a:sym typeface="Canva Sans Bold"/>
              </a:rPr>
              <a:t>ough an interactive user interface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45C72"/>
        </a:solidFill>
      </p:bgPr>
    </p:bg>
    <p:spTree>
      <p:nvGrpSpPr>
        <p:cNvPr id="1" name=""/>
        <p:cNvGrpSpPr/>
        <p:nvPr/>
      </p:nvGrpSpPr>
      <p:grpSpPr>
        <a:xfrm>
          <a:off x="0" y="0"/>
          <a:ext cx="0" cy="0"/>
          <a:chOff x="0" y="0"/>
          <a:chExt cx="0" cy="0"/>
        </a:xfrm>
      </p:grpSpPr>
      <p:sp>
        <p:nvSpPr>
          <p:cNvPr name="Freeform 2" id="2"/>
          <p:cNvSpPr/>
          <p:nvPr/>
        </p:nvSpPr>
        <p:spPr>
          <a:xfrm flipH="false" flipV="false" rot="0">
            <a:off x="833598" y="2116419"/>
            <a:ext cx="5317334" cy="1343835"/>
          </a:xfrm>
          <a:custGeom>
            <a:avLst/>
            <a:gdLst/>
            <a:ahLst/>
            <a:cxnLst/>
            <a:rect r="r" b="b" t="t" l="l"/>
            <a:pathLst>
              <a:path h="1343835" w="5317334">
                <a:moveTo>
                  <a:pt x="0" y="0"/>
                </a:moveTo>
                <a:lnTo>
                  <a:pt x="5317334" y="0"/>
                </a:lnTo>
                <a:lnTo>
                  <a:pt x="5317334" y="1343835"/>
                </a:lnTo>
                <a:lnTo>
                  <a:pt x="0" y="13438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3598" y="3799665"/>
            <a:ext cx="5317334" cy="1343835"/>
          </a:xfrm>
          <a:custGeom>
            <a:avLst/>
            <a:gdLst/>
            <a:ahLst/>
            <a:cxnLst/>
            <a:rect r="r" b="b" t="t" l="l"/>
            <a:pathLst>
              <a:path h="1343835" w="5317334">
                <a:moveTo>
                  <a:pt x="0" y="0"/>
                </a:moveTo>
                <a:lnTo>
                  <a:pt x="5317334" y="0"/>
                </a:lnTo>
                <a:lnTo>
                  <a:pt x="5317334" y="1343835"/>
                </a:lnTo>
                <a:lnTo>
                  <a:pt x="0" y="13438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33598" y="5479327"/>
            <a:ext cx="5317334" cy="1343835"/>
          </a:xfrm>
          <a:custGeom>
            <a:avLst/>
            <a:gdLst/>
            <a:ahLst/>
            <a:cxnLst/>
            <a:rect r="r" b="b" t="t" l="l"/>
            <a:pathLst>
              <a:path h="1343835" w="5317334">
                <a:moveTo>
                  <a:pt x="0" y="0"/>
                </a:moveTo>
                <a:lnTo>
                  <a:pt x="5317334" y="0"/>
                </a:lnTo>
                <a:lnTo>
                  <a:pt x="5317334" y="1343836"/>
                </a:lnTo>
                <a:lnTo>
                  <a:pt x="0" y="13438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33598" y="7166063"/>
            <a:ext cx="5317334" cy="1343835"/>
          </a:xfrm>
          <a:custGeom>
            <a:avLst/>
            <a:gdLst/>
            <a:ahLst/>
            <a:cxnLst/>
            <a:rect r="r" b="b" t="t" l="l"/>
            <a:pathLst>
              <a:path h="1343835" w="5317334">
                <a:moveTo>
                  <a:pt x="0" y="0"/>
                </a:moveTo>
                <a:lnTo>
                  <a:pt x="5317334" y="0"/>
                </a:lnTo>
                <a:lnTo>
                  <a:pt x="5317334" y="1343835"/>
                </a:lnTo>
                <a:lnTo>
                  <a:pt x="0" y="13438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018484" y="2012770"/>
            <a:ext cx="5727457" cy="1447485"/>
          </a:xfrm>
          <a:custGeom>
            <a:avLst/>
            <a:gdLst/>
            <a:ahLst/>
            <a:cxnLst/>
            <a:rect r="r" b="b" t="t" l="l"/>
            <a:pathLst>
              <a:path h="1447485" w="5727457">
                <a:moveTo>
                  <a:pt x="0" y="0"/>
                </a:moveTo>
                <a:lnTo>
                  <a:pt x="5727457" y="0"/>
                </a:lnTo>
                <a:lnTo>
                  <a:pt x="5727457" y="1447484"/>
                </a:lnTo>
                <a:lnTo>
                  <a:pt x="0" y="14474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018484" y="3663862"/>
            <a:ext cx="5727457" cy="1447485"/>
          </a:xfrm>
          <a:custGeom>
            <a:avLst/>
            <a:gdLst/>
            <a:ahLst/>
            <a:cxnLst/>
            <a:rect r="r" b="b" t="t" l="l"/>
            <a:pathLst>
              <a:path h="1447485" w="5727457">
                <a:moveTo>
                  <a:pt x="0" y="0"/>
                </a:moveTo>
                <a:lnTo>
                  <a:pt x="5727457" y="0"/>
                </a:lnTo>
                <a:lnTo>
                  <a:pt x="5727457" y="1447485"/>
                </a:lnTo>
                <a:lnTo>
                  <a:pt x="0" y="14474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2018484" y="5314955"/>
            <a:ext cx="5727457" cy="1447485"/>
          </a:xfrm>
          <a:custGeom>
            <a:avLst/>
            <a:gdLst/>
            <a:ahLst/>
            <a:cxnLst/>
            <a:rect r="r" b="b" t="t" l="l"/>
            <a:pathLst>
              <a:path h="1447485" w="5727457">
                <a:moveTo>
                  <a:pt x="0" y="0"/>
                </a:moveTo>
                <a:lnTo>
                  <a:pt x="5727457" y="0"/>
                </a:lnTo>
                <a:lnTo>
                  <a:pt x="5727457" y="1447484"/>
                </a:lnTo>
                <a:lnTo>
                  <a:pt x="0" y="14474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018484" y="6966047"/>
            <a:ext cx="5727457" cy="1447485"/>
          </a:xfrm>
          <a:custGeom>
            <a:avLst/>
            <a:gdLst/>
            <a:ahLst/>
            <a:cxnLst/>
            <a:rect r="r" b="b" t="t" l="l"/>
            <a:pathLst>
              <a:path h="1447485" w="5727457">
                <a:moveTo>
                  <a:pt x="0" y="0"/>
                </a:moveTo>
                <a:lnTo>
                  <a:pt x="5727457" y="0"/>
                </a:lnTo>
                <a:lnTo>
                  <a:pt x="5727457" y="1447485"/>
                </a:lnTo>
                <a:lnTo>
                  <a:pt x="0" y="14474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6457098" y="3086100"/>
            <a:ext cx="5255221" cy="4079963"/>
          </a:xfrm>
          <a:custGeom>
            <a:avLst/>
            <a:gdLst/>
            <a:ahLst/>
            <a:cxnLst/>
            <a:rect r="r" b="b" t="t" l="l"/>
            <a:pathLst>
              <a:path h="4079963" w="5255221">
                <a:moveTo>
                  <a:pt x="0" y="0"/>
                </a:moveTo>
                <a:lnTo>
                  <a:pt x="5255221" y="0"/>
                </a:lnTo>
                <a:lnTo>
                  <a:pt x="5255221" y="4079963"/>
                </a:lnTo>
                <a:lnTo>
                  <a:pt x="0" y="40799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2875075" y="2638972"/>
            <a:ext cx="1234380" cy="396240"/>
          </a:xfrm>
          <a:prstGeom prst="rect">
            <a:avLst/>
          </a:prstGeom>
        </p:spPr>
        <p:txBody>
          <a:bodyPr anchor="t" rtlCol="false" tIns="0" lIns="0" bIns="0" rIns="0">
            <a:spAutoFit/>
          </a:bodyPr>
          <a:lstStyle/>
          <a:p>
            <a:pPr algn="ctr">
              <a:lnSpc>
                <a:spcPts val="3359"/>
              </a:lnSpc>
              <a:spcBef>
                <a:spcPct val="0"/>
              </a:spcBef>
            </a:pPr>
            <a:r>
              <a:rPr lang="en-US" sz="2400" spc="-48">
                <a:solidFill>
                  <a:srgbClr val="FFFFFF"/>
                </a:solidFill>
                <a:latin typeface="Canva Sans"/>
                <a:ea typeface="Canva Sans"/>
                <a:cs typeface="Canva Sans"/>
                <a:sym typeface="Canva Sans"/>
              </a:rPr>
              <a:t>   Python</a:t>
            </a:r>
          </a:p>
        </p:txBody>
      </p:sp>
      <p:sp>
        <p:nvSpPr>
          <p:cNvPr name="TextBox 12" id="12"/>
          <p:cNvSpPr txBox="true"/>
          <p:nvPr/>
        </p:nvSpPr>
        <p:spPr>
          <a:xfrm rot="0">
            <a:off x="6749135" y="4034560"/>
            <a:ext cx="4789731" cy="2046430"/>
          </a:xfrm>
          <a:prstGeom prst="rect">
            <a:avLst/>
          </a:prstGeom>
        </p:spPr>
        <p:txBody>
          <a:bodyPr anchor="t" rtlCol="false" tIns="0" lIns="0" bIns="0" rIns="0">
            <a:spAutoFit/>
          </a:bodyPr>
          <a:lstStyle/>
          <a:p>
            <a:pPr algn="ctr">
              <a:lnSpc>
                <a:spcPts val="7954"/>
              </a:lnSpc>
              <a:spcBef>
                <a:spcPct val="0"/>
              </a:spcBef>
            </a:pPr>
            <a:r>
              <a:rPr lang="en-US" b="true" sz="5681" spc="-113">
                <a:solidFill>
                  <a:srgbClr val="FFFFFF"/>
                </a:solidFill>
                <a:latin typeface="Poppins Bold"/>
                <a:ea typeface="Poppins Bold"/>
                <a:cs typeface="Poppins Bold"/>
                <a:sym typeface="Poppins Bold"/>
              </a:rPr>
              <a:t>Tools &amp; Features</a:t>
            </a:r>
          </a:p>
        </p:txBody>
      </p:sp>
      <p:sp>
        <p:nvSpPr>
          <p:cNvPr name="TextBox 13" id="13"/>
          <p:cNvSpPr txBox="true"/>
          <p:nvPr/>
        </p:nvSpPr>
        <p:spPr>
          <a:xfrm rot="0">
            <a:off x="1494399" y="3625762"/>
            <a:ext cx="3995733" cy="1653540"/>
          </a:xfrm>
          <a:prstGeom prst="rect">
            <a:avLst/>
          </a:prstGeom>
        </p:spPr>
        <p:txBody>
          <a:bodyPr anchor="t" rtlCol="false" tIns="0" lIns="0" bIns="0" rIns="0">
            <a:spAutoFit/>
          </a:bodyPr>
          <a:lstStyle/>
          <a:p>
            <a:pPr algn="ctr">
              <a:lnSpc>
                <a:spcPts val="3359"/>
              </a:lnSpc>
            </a:pPr>
          </a:p>
          <a:p>
            <a:pPr algn="ctr">
              <a:lnSpc>
                <a:spcPts val="3359"/>
              </a:lnSpc>
              <a:spcBef>
                <a:spcPct val="0"/>
              </a:spcBef>
            </a:pPr>
            <a:r>
              <a:rPr lang="en-US" sz="2399" spc="-47">
                <a:solidFill>
                  <a:srgbClr val="FFFFFF"/>
                </a:solidFill>
                <a:latin typeface="Canva Sans"/>
                <a:ea typeface="Canva Sans"/>
                <a:cs typeface="Canva Sans"/>
                <a:sym typeface="Canva Sans"/>
              </a:rPr>
              <a:t>Machine Learning </a:t>
            </a:r>
          </a:p>
          <a:p>
            <a:pPr algn="ctr">
              <a:lnSpc>
                <a:spcPts val="3359"/>
              </a:lnSpc>
              <a:spcBef>
                <a:spcPct val="0"/>
              </a:spcBef>
            </a:pPr>
            <a:r>
              <a:rPr lang="en-US" sz="2399" spc="-47">
                <a:solidFill>
                  <a:srgbClr val="FFFFFF"/>
                </a:solidFill>
                <a:latin typeface="Canva Sans"/>
                <a:ea typeface="Canva Sans"/>
                <a:cs typeface="Canva Sans"/>
                <a:sym typeface="Canva Sans"/>
              </a:rPr>
              <a:t>/ Deep Learning model</a:t>
            </a:r>
          </a:p>
          <a:p>
            <a:pPr algn="ctr">
              <a:lnSpc>
                <a:spcPts val="3359"/>
              </a:lnSpc>
              <a:spcBef>
                <a:spcPct val="0"/>
              </a:spcBef>
            </a:pPr>
          </a:p>
        </p:txBody>
      </p:sp>
      <p:sp>
        <p:nvSpPr>
          <p:cNvPr name="TextBox 14" id="14"/>
          <p:cNvSpPr txBox="true"/>
          <p:nvPr/>
        </p:nvSpPr>
        <p:spPr>
          <a:xfrm rot="0">
            <a:off x="2062115" y="5376863"/>
            <a:ext cx="2860300" cy="1544320"/>
          </a:xfrm>
          <a:prstGeom prst="rect">
            <a:avLst/>
          </a:prstGeom>
        </p:spPr>
        <p:txBody>
          <a:bodyPr anchor="t" rtlCol="false" tIns="0" lIns="0" bIns="0" rIns="0">
            <a:spAutoFit/>
          </a:bodyPr>
          <a:lstStyle/>
          <a:p>
            <a:pPr algn="ctr">
              <a:lnSpc>
                <a:spcPts val="3080"/>
              </a:lnSpc>
            </a:pPr>
            <a:r>
              <a:rPr lang="en-US" sz="2200" spc="-44">
                <a:solidFill>
                  <a:srgbClr val="FFFFFF"/>
                </a:solidFill>
                <a:latin typeface="Canva Sans"/>
                <a:ea typeface="Canva Sans"/>
                <a:cs typeface="Canva Sans"/>
                <a:sym typeface="Canva Sans"/>
              </a:rPr>
              <a:t>  </a:t>
            </a:r>
          </a:p>
          <a:p>
            <a:pPr algn="ctr">
              <a:lnSpc>
                <a:spcPts val="3080"/>
              </a:lnSpc>
            </a:pPr>
            <a:r>
              <a:rPr lang="en-US" sz="2200" spc="-44">
                <a:solidFill>
                  <a:srgbClr val="FFFFFF"/>
                </a:solidFill>
                <a:latin typeface="Canva Sans"/>
                <a:ea typeface="Canva Sans"/>
                <a:cs typeface="Canva Sans"/>
                <a:sym typeface="Canva Sans"/>
              </a:rPr>
              <a:t>NLP Libraries</a:t>
            </a:r>
          </a:p>
          <a:p>
            <a:pPr algn="ctr">
              <a:lnSpc>
                <a:spcPts val="3080"/>
              </a:lnSpc>
            </a:pPr>
            <a:r>
              <a:rPr lang="en-US" sz="2200" spc="-44">
                <a:solidFill>
                  <a:srgbClr val="FFFFFF"/>
                </a:solidFill>
                <a:latin typeface="Canva Sans"/>
                <a:ea typeface="Canva Sans"/>
                <a:cs typeface="Canva Sans"/>
                <a:sym typeface="Canva Sans"/>
              </a:rPr>
              <a:t> (NLTK/SpaCy)</a:t>
            </a:r>
          </a:p>
          <a:p>
            <a:pPr algn="ctr">
              <a:lnSpc>
                <a:spcPts val="3080"/>
              </a:lnSpc>
              <a:spcBef>
                <a:spcPct val="0"/>
              </a:spcBef>
            </a:pPr>
          </a:p>
        </p:txBody>
      </p:sp>
      <p:sp>
        <p:nvSpPr>
          <p:cNvPr name="TextBox 15" id="15"/>
          <p:cNvSpPr txBox="true"/>
          <p:nvPr/>
        </p:nvSpPr>
        <p:spPr>
          <a:xfrm rot="0">
            <a:off x="2424059" y="7411260"/>
            <a:ext cx="2374225" cy="727710"/>
          </a:xfrm>
          <a:prstGeom prst="rect">
            <a:avLst/>
          </a:prstGeom>
        </p:spPr>
        <p:txBody>
          <a:bodyPr anchor="t" rtlCol="false" tIns="0" lIns="0" bIns="0" rIns="0">
            <a:spAutoFit/>
          </a:bodyPr>
          <a:lstStyle/>
          <a:p>
            <a:pPr algn="ctr">
              <a:lnSpc>
                <a:spcPts val="3079"/>
              </a:lnSpc>
            </a:pPr>
            <a:r>
              <a:rPr lang="en-US" sz="2199" spc="-43">
                <a:solidFill>
                  <a:srgbClr val="FFFFFF"/>
                </a:solidFill>
                <a:latin typeface="Canva Sans"/>
                <a:ea typeface="Canva Sans"/>
                <a:cs typeface="Canva Sans"/>
                <a:sym typeface="Canva Sans"/>
              </a:rPr>
              <a:t>   </a:t>
            </a:r>
            <a:r>
              <a:rPr lang="en-US" sz="2199" spc="-43">
                <a:solidFill>
                  <a:srgbClr val="FFFFFF"/>
                </a:solidFill>
                <a:latin typeface="Canva Sans"/>
                <a:ea typeface="Canva Sans"/>
                <a:cs typeface="Canva Sans"/>
                <a:sym typeface="Canva Sans"/>
              </a:rPr>
              <a:t>Web freamework</a:t>
            </a:r>
          </a:p>
          <a:p>
            <a:pPr algn="ctr">
              <a:lnSpc>
                <a:spcPts val="2800"/>
              </a:lnSpc>
              <a:spcBef>
                <a:spcPct val="0"/>
              </a:spcBef>
            </a:pPr>
            <a:r>
              <a:rPr lang="en-US" sz="2000" spc="-40">
                <a:solidFill>
                  <a:srgbClr val="FFFFFF"/>
                </a:solidFill>
                <a:latin typeface="Canva Sans"/>
                <a:ea typeface="Canva Sans"/>
                <a:cs typeface="Canva Sans"/>
                <a:sym typeface="Canva Sans"/>
              </a:rPr>
              <a:t>(Flask/Django)   </a:t>
            </a:r>
          </a:p>
        </p:txBody>
      </p:sp>
      <p:sp>
        <p:nvSpPr>
          <p:cNvPr name="TextBox 16" id="16"/>
          <p:cNvSpPr txBox="true"/>
          <p:nvPr/>
        </p:nvSpPr>
        <p:spPr>
          <a:xfrm rot="0">
            <a:off x="12950201" y="2553387"/>
            <a:ext cx="3864025" cy="422275"/>
          </a:xfrm>
          <a:prstGeom prst="rect">
            <a:avLst/>
          </a:prstGeom>
        </p:spPr>
        <p:txBody>
          <a:bodyPr anchor="t" rtlCol="false" tIns="0" lIns="0" bIns="0" rIns="0">
            <a:spAutoFit/>
          </a:bodyPr>
          <a:lstStyle/>
          <a:p>
            <a:pPr algn="ctr">
              <a:lnSpc>
                <a:spcPts val="3499"/>
              </a:lnSpc>
              <a:spcBef>
                <a:spcPct val="0"/>
              </a:spcBef>
            </a:pPr>
            <a:r>
              <a:rPr lang="en-US" sz="2499" spc="-49">
                <a:solidFill>
                  <a:srgbClr val="FFFFFF"/>
                </a:solidFill>
                <a:latin typeface="Canva Sans"/>
                <a:ea typeface="Canva Sans"/>
                <a:cs typeface="Canva Sans"/>
                <a:sym typeface="Canva Sans"/>
              </a:rPr>
              <a:t>Aut</a:t>
            </a:r>
            <a:r>
              <a:rPr lang="en-US" sz="2499" spc="-49">
                <a:solidFill>
                  <a:srgbClr val="FFFFFF"/>
                </a:solidFill>
                <a:latin typeface="Canva Sans"/>
                <a:ea typeface="Canva Sans"/>
                <a:cs typeface="Canva Sans"/>
                <a:sym typeface="Canva Sans"/>
              </a:rPr>
              <a:t>omatic quiz generation</a:t>
            </a:r>
          </a:p>
        </p:txBody>
      </p:sp>
      <p:sp>
        <p:nvSpPr>
          <p:cNvPr name="TextBox 17" id="17"/>
          <p:cNvSpPr txBox="true"/>
          <p:nvPr/>
        </p:nvSpPr>
        <p:spPr>
          <a:xfrm rot="0">
            <a:off x="12338094" y="4044862"/>
            <a:ext cx="5727457" cy="815340"/>
          </a:xfrm>
          <a:prstGeom prst="rect">
            <a:avLst/>
          </a:prstGeom>
        </p:spPr>
        <p:txBody>
          <a:bodyPr anchor="t" rtlCol="false" tIns="0" lIns="0" bIns="0" rIns="0">
            <a:spAutoFit/>
          </a:bodyPr>
          <a:lstStyle/>
          <a:p>
            <a:pPr algn="ctr">
              <a:lnSpc>
                <a:spcPts val="3359"/>
              </a:lnSpc>
              <a:spcBef>
                <a:spcPct val="0"/>
              </a:spcBef>
            </a:pPr>
            <a:r>
              <a:rPr lang="en-US" sz="2400" spc="-48">
                <a:solidFill>
                  <a:srgbClr val="FFFFFF"/>
                </a:solidFill>
                <a:latin typeface="Canva Sans"/>
                <a:ea typeface="Canva Sans"/>
                <a:cs typeface="Canva Sans"/>
                <a:sym typeface="Canva Sans"/>
              </a:rPr>
              <a:t>Multiple questi</a:t>
            </a:r>
            <a:r>
              <a:rPr lang="en-US" sz="2400" spc="-48">
                <a:solidFill>
                  <a:srgbClr val="FFFFFF"/>
                </a:solidFill>
                <a:latin typeface="Canva Sans"/>
                <a:ea typeface="Canva Sans"/>
                <a:cs typeface="Canva Sans"/>
                <a:sym typeface="Canva Sans"/>
              </a:rPr>
              <a:t>on types (MCQ, True/False, Short Answer)</a:t>
            </a:r>
          </a:p>
        </p:txBody>
      </p:sp>
      <p:sp>
        <p:nvSpPr>
          <p:cNvPr name="TextBox 18" id="18"/>
          <p:cNvSpPr txBox="true"/>
          <p:nvPr/>
        </p:nvSpPr>
        <p:spPr>
          <a:xfrm rot="0">
            <a:off x="12018484" y="5839277"/>
            <a:ext cx="5727457" cy="815340"/>
          </a:xfrm>
          <a:prstGeom prst="rect">
            <a:avLst/>
          </a:prstGeom>
        </p:spPr>
        <p:txBody>
          <a:bodyPr anchor="t" rtlCol="false" tIns="0" lIns="0" bIns="0" rIns="0">
            <a:spAutoFit/>
          </a:bodyPr>
          <a:lstStyle/>
          <a:p>
            <a:pPr algn="ctr">
              <a:lnSpc>
                <a:spcPts val="3359"/>
              </a:lnSpc>
              <a:spcBef>
                <a:spcPct val="0"/>
              </a:spcBef>
            </a:pPr>
            <a:r>
              <a:rPr lang="en-US" sz="2400" spc="-48">
                <a:solidFill>
                  <a:srgbClr val="FFFFFF"/>
                </a:solidFill>
                <a:latin typeface="Canva Sans"/>
                <a:ea typeface="Canva Sans"/>
                <a:cs typeface="Canva Sans"/>
                <a:sym typeface="Canva Sans"/>
              </a:rPr>
              <a:t>NLP-b</a:t>
            </a:r>
            <a:r>
              <a:rPr lang="en-US" sz="2400" spc="-48">
                <a:solidFill>
                  <a:srgbClr val="FFFFFF"/>
                </a:solidFill>
                <a:latin typeface="Canva Sans"/>
                <a:ea typeface="Canva Sans"/>
                <a:cs typeface="Canva Sans"/>
                <a:sym typeface="Canva Sans"/>
              </a:rPr>
              <a:t>ased text processing</a:t>
            </a:r>
          </a:p>
          <a:p>
            <a:pPr algn="ctr">
              <a:lnSpc>
                <a:spcPts val="3359"/>
              </a:lnSpc>
              <a:spcBef>
                <a:spcPct val="0"/>
              </a:spcBef>
            </a:pPr>
          </a:p>
        </p:txBody>
      </p:sp>
      <p:sp>
        <p:nvSpPr>
          <p:cNvPr name="TextBox 19" id="19"/>
          <p:cNvSpPr txBox="true"/>
          <p:nvPr/>
        </p:nvSpPr>
        <p:spPr>
          <a:xfrm rot="0">
            <a:off x="12950201" y="7539733"/>
            <a:ext cx="4163020" cy="396240"/>
          </a:xfrm>
          <a:prstGeom prst="rect">
            <a:avLst/>
          </a:prstGeom>
        </p:spPr>
        <p:txBody>
          <a:bodyPr anchor="t" rtlCol="false" tIns="0" lIns="0" bIns="0" rIns="0">
            <a:spAutoFit/>
          </a:bodyPr>
          <a:lstStyle/>
          <a:p>
            <a:pPr algn="ctr">
              <a:lnSpc>
                <a:spcPts val="3359"/>
              </a:lnSpc>
              <a:spcBef>
                <a:spcPct val="0"/>
              </a:spcBef>
            </a:pPr>
            <a:r>
              <a:rPr lang="en-US" sz="2400" spc="-48">
                <a:solidFill>
                  <a:srgbClr val="FFFFFF"/>
                </a:solidFill>
                <a:latin typeface="Canva Sans"/>
                <a:ea typeface="Canva Sans"/>
                <a:cs typeface="Canva Sans"/>
                <a:sym typeface="Canva Sans"/>
              </a:rPr>
              <a:t>Fast</a:t>
            </a:r>
            <a:r>
              <a:rPr lang="en-US" sz="2400" spc="-48">
                <a:solidFill>
                  <a:srgbClr val="FFFFFF"/>
                </a:solidFill>
                <a:latin typeface="Canva Sans"/>
                <a:ea typeface="Canva Sans"/>
                <a:cs typeface="Canva Sans"/>
                <a:sym typeface="Canva Sans"/>
              </a:rPr>
              <a:t> and user-friendly system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45C72"/>
        </a:solidFill>
      </p:bgPr>
    </p:bg>
    <p:spTree>
      <p:nvGrpSpPr>
        <p:cNvPr id="1" name=""/>
        <p:cNvGrpSpPr/>
        <p:nvPr/>
      </p:nvGrpSpPr>
      <p:grpSpPr>
        <a:xfrm>
          <a:off x="0" y="0"/>
          <a:ext cx="0" cy="0"/>
          <a:chOff x="0" y="0"/>
          <a:chExt cx="0" cy="0"/>
        </a:xfrm>
      </p:grpSpPr>
      <p:grpSp>
        <p:nvGrpSpPr>
          <p:cNvPr name="Group 2" id="2"/>
          <p:cNvGrpSpPr/>
          <p:nvPr/>
        </p:nvGrpSpPr>
        <p:grpSpPr>
          <a:xfrm rot="0">
            <a:off x="1865332" y="4218068"/>
            <a:ext cx="4522066" cy="2979125"/>
            <a:chOff x="0" y="0"/>
            <a:chExt cx="1190997" cy="784626"/>
          </a:xfrm>
        </p:grpSpPr>
        <p:sp>
          <p:nvSpPr>
            <p:cNvPr name="Freeform 3" id="3"/>
            <p:cNvSpPr/>
            <p:nvPr/>
          </p:nvSpPr>
          <p:spPr>
            <a:xfrm flipH="false" flipV="false" rot="0">
              <a:off x="0" y="0"/>
              <a:ext cx="1190997" cy="784626"/>
            </a:xfrm>
            <a:custGeom>
              <a:avLst/>
              <a:gdLst/>
              <a:ahLst/>
              <a:cxnLst/>
              <a:rect r="r" b="b" t="t" l="l"/>
              <a:pathLst>
                <a:path h="784626" w="1190997">
                  <a:moveTo>
                    <a:pt x="29105" y="0"/>
                  </a:moveTo>
                  <a:lnTo>
                    <a:pt x="1161892" y="0"/>
                  </a:lnTo>
                  <a:cubicBezTo>
                    <a:pt x="1177966" y="0"/>
                    <a:pt x="1190997" y="13031"/>
                    <a:pt x="1190997" y="29105"/>
                  </a:cubicBezTo>
                  <a:lnTo>
                    <a:pt x="1190997" y="755521"/>
                  </a:lnTo>
                  <a:cubicBezTo>
                    <a:pt x="1190997" y="771595"/>
                    <a:pt x="1177966" y="784626"/>
                    <a:pt x="1161892" y="784626"/>
                  </a:cubicBezTo>
                  <a:lnTo>
                    <a:pt x="29105" y="784626"/>
                  </a:lnTo>
                  <a:cubicBezTo>
                    <a:pt x="13031" y="784626"/>
                    <a:pt x="0" y="771595"/>
                    <a:pt x="0" y="755521"/>
                  </a:cubicBezTo>
                  <a:lnTo>
                    <a:pt x="0" y="29105"/>
                  </a:lnTo>
                  <a:cubicBezTo>
                    <a:pt x="0" y="13031"/>
                    <a:pt x="13031" y="0"/>
                    <a:pt x="29105" y="0"/>
                  </a:cubicBezTo>
                  <a:close/>
                </a:path>
              </a:pathLst>
            </a:custGeom>
            <a:solidFill>
              <a:srgbClr val="C5C9E0">
                <a:alpha val="38824"/>
              </a:srgbClr>
            </a:solidFill>
          </p:spPr>
        </p:sp>
        <p:sp>
          <p:nvSpPr>
            <p:cNvPr name="TextBox 4" id="4"/>
            <p:cNvSpPr txBox="true"/>
            <p:nvPr/>
          </p:nvSpPr>
          <p:spPr>
            <a:xfrm>
              <a:off x="0" y="-38100"/>
              <a:ext cx="1190997" cy="822726"/>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11474995" y="2535102"/>
            <a:ext cx="4760151" cy="2801054"/>
            <a:chOff x="0" y="0"/>
            <a:chExt cx="1253702" cy="737726"/>
          </a:xfrm>
        </p:grpSpPr>
        <p:sp>
          <p:nvSpPr>
            <p:cNvPr name="Freeform 6" id="6"/>
            <p:cNvSpPr/>
            <p:nvPr/>
          </p:nvSpPr>
          <p:spPr>
            <a:xfrm flipH="false" flipV="false" rot="0">
              <a:off x="0" y="0"/>
              <a:ext cx="1253702" cy="737726"/>
            </a:xfrm>
            <a:custGeom>
              <a:avLst/>
              <a:gdLst/>
              <a:ahLst/>
              <a:cxnLst/>
              <a:rect r="r" b="b" t="t" l="l"/>
              <a:pathLst>
                <a:path h="737726" w="1253702">
                  <a:moveTo>
                    <a:pt x="27649" y="0"/>
                  </a:moveTo>
                  <a:lnTo>
                    <a:pt x="1226054" y="0"/>
                  </a:lnTo>
                  <a:cubicBezTo>
                    <a:pt x="1233386" y="0"/>
                    <a:pt x="1240419" y="2913"/>
                    <a:pt x="1245604" y="8098"/>
                  </a:cubicBezTo>
                  <a:cubicBezTo>
                    <a:pt x="1250789" y="13283"/>
                    <a:pt x="1253702" y="20316"/>
                    <a:pt x="1253702" y="27649"/>
                  </a:cubicBezTo>
                  <a:lnTo>
                    <a:pt x="1253702" y="710077"/>
                  </a:lnTo>
                  <a:cubicBezTo>
                    <a:pt x="1253702" y="717410"/>
                    <a:pt x="1250789" y="724443"/>
                    <a:pt x="1245604" y="729628"/>
                  </a:cubicBezTo>
                  <a:cubicBezTo>
                    <a:pt x="1240419" y="734813"/>
                    <a:pt x="1233386" y="737726"/>
                    <a:pt x="1226054" y="737726"/>
                  </a:cubicBezTo>
                  <a:lnTo>
                    <a:pt x="27649" y="737726"/>
                  </a:lnTo>
                  <a:cubicBezTo>
                    <a:pt x="20316" y="737726"/>
                    <a:pt x="13283" y="734813"/>
                    <a:pt x="8098" y="729628"/>
                  </a:cubicBezTo>
                  <a:cubicBezTo>
                    <a:pt x="2913" y="724443"/>
                    <a:pt x="0" y="717410"/>
                    <a:pt x="0" y="710077"/>
                  </a:cubicBezTo>
                  <a:lnTo>
                    <a:pt x="0" y="27649"/>
                  </a:lnTo>
                  <a:cubicBezTo>
                    <a:pt x="0" y="20316"/>
                    <a:pt x="2913" y="13283"/>
                    <a:pt x="8098" y="8098"/>
                  </a:cubicBezTo>
                  <a:cubicBezTo>
                    <a:pt x="13283" y="2913"/>
                    <a:pt x="20316" y="0"/>
                    <a:pt x="27649" y="0"/>
                  </a:cubicBezTo>
                  <a:close/>
                </a:path>
              </a:pathLst>
            </a:custGeom>
            <a:solidFill>
              <a:srgbClr val="C5C9E0">
                <a:alpha val="36863"/>
              </a:srgbClr>
            </a:solidFill>
          </p:spPr>
        </p:sp>
        <p:sp>
          <p:nvSpPr>
            <p:cNvPr name="TextBox 7" id="7"/>
            <p:cNvSpPr txBox="true"/>
            <p:nvPr/>
          </p:nvSpPr>
          <p:spPr>
            <a:xfrm>
              <a:off x="0" y="-38100"/>
              <a:ext cx="1253702" cy="775826"/>
            </a:xfrm>
            <a:prstGeom prst="rect">
              <a:avLst/>
            </a:prstGeom>
          </p:spPr>
          <p:txBody>
            <a:bodyPr anchor="ctr" rtlCol="false" tIns="50800" lIns="50800" bIns="50800" rIns="50800"/>
            <a:lstStyle/>
            <a:p>
              <a:pPr algn="ctr">
                <a:lnSpc>
                  <a:spcPts val="3079"/>
                </a:lnSpc>
              </a:pPr>
            </a:p>
          </p:txBody>
        </p:sp>
      </p:grpSp>
      <p:grpSp>
        <p:nvGrpSpPr>
          <p:cNvPr name="Group 8" id="8"/>
          <p:cNvGrpSpPr/>
          <p:nvPr/>
        </p:nvGrpSpPr>
        <p:grpSpPr>
          <a:xfrm rot="0">
            <a:off x="9786422" y="7032478"/>
            <a:ext cx="4760151" cy="2844056"/>
            <a:chOff x="0" y="0"/>
            <a:chExt cx="1253702" cy="749052"/>
          </a:xfrm>
        </p:grpSpPr>
        <p:sp>
          <p:nvSpPr>
            <p:cNvPr name="Freeform 9" id="9"/>
            <p:cNvSpPr/>
            <p:nvPr/>
          </p:nvSpPr>
          <p:spPr>
            <a:xfrm flipH="false" flipV="false" rot="0">
              <a:off x="0" y="0"/>
              <a:ext cx="1253702" cy="749052"/>
            </a:xfrm>
            <a:custGeom>
              <a:avLst/>
              <a:gdLst/>
              <a:ahLst/>
              <a:cxnLst/>
              <a:rect r="r" b="b" t="t" l="l"/>
              <a:pathLst>
                <a:path h="749052" w="1253702">
                  <a:moveTo>
                    <a:pt x="27649" y="0"/>
                  </a:moveTo>
                  <a:lnTo>
                    <a:pt x="1226054" y="0"/>
                  </a:lnTo>
                  <a:cubicBezTo>
                    <a:pt x="1233386" y="0"/>
                    <a:pt x="1240419" y="2913"/>
                    <a:pt x="1245604" y="8098"/>
                  </a:cubicBezTo>
                  <a:cubicBezTo>
                    <a:pt x="1250789" y="13283"/>
                    <a:pt x="1253702" y="20316"/>
                    <a:pt x="1253702" y="27649"/>
                  </a:cubicBezTo>
                  <a:lnTo>
                    <a:pt x="1253702" y="721403"/>
                  </a:lnTo>
                  <a:cubicBezTo>
                    <a:pt x="1253702" y="728736"/>
                    <a:pt x="1250789" y="735768"/>
                    <a:pt x="1245604" y="740954"/>
                  </a:cubicBezTo>
                  <a:cubicBezTo>
                    <a:pt x="1240419" y="746139"/>
                    <a:pt x="1233386" y="749052"/>
                    <a:pt x="1226054" y="749052"/>
                  </a:cubicBezTo>
                  <a:lnTo>
                    <a:pt x="27649" y="749052"/>
                  </a:lnTo>
                  <a:cubicBezTo>
                    <a:pt x="20316" y="749052"/>
                    <a:pt x="13283" y="746139"/>
                    <a:pt x="8098" y="740954"/>
                  </a:cubicBezTo>
                  <a:cubicBezTo>
                    <a:pt x="2913" y="735768"/>
                    <a:pt x="0" y="728736"/>
                    <a:pt x="0" y="721403"/>
                  </a:cubicBezTo>
                  <a:lnTo>
                    <a:pt x="0" y="27649"/>
                  </a:lnTo>
                  <a:cubicBezTo>
                    <a:pt x="0" y="20316"/>
                    <a:pt x="2913" y="13283"/>
                    <a:pt x="8098" y="8098"/>
                  </a:cubicBezTo>
                  <a:cubicBezTo>
                    <a:pt x="13283" y="2913"/>
                    <a:pt x="20316" y="0"/>
                    <a:pt x="27649" y="0"/>
                  </a:cubicBezTo>
                  <a:close/>
                </a:path>
              </a:pathLst>
            </a:custGeom>
            <a:solidFill>
              <a:srgbClr val="C5C9E0">
                <a:alpha val="37647"/>
              </a:srgbClr>
            </a:solidFill>
          </p:spPr>
        </p:sp>
        <p:sp>
          <p:nvSpPr>
            <p:cNvPr name="TextBox 10" id="10"/>
            <p:cNvSpPr txBox="true"/>
            <p:nvPr/>
          </p:nvSpPr>
          <p:spPr>
            <a:xfrm>
              <a:off x="0" y="-38100"/>
              <a:ext cx="1253702" cy="787152"/>
            </a:xfrm>
            <a:prstGeom prst="rect">
              <a:avLst/>
            </a:prstGeom>
          </p:spPr>
          <p:txBody>
            <a:bodyPr anchor="ctr" rtlCol="false" tIns="50800" lIns="50800" bIns="50800" rIns="50800"/>
            <a:lstStyle/>
            <a:p>
              <a:pPr algn="ctr">
                <a:lnSpc>
                  <a:spcPts val="3079"/>
                </a:lnSpc>
              </a:pPr>
            </a:p>
          </p:txBody>
        </p:sp>
      </p:grpSp>
      <p:sp>
        <p:nvSpPr>
          <p:cNvPr name="Freeform 11" id="11"/>
          <p:cNvSpPr/>
          <p:nvPr/>
        </p:nvSpPr>
        <p:spPr>
          <a:xfrm flipH="false" flipV="false" rot="0">
            <a:off x="6879837" y="2830829"/>
            <a:ext cx="3715260" cy="4114800"/>
          </a:xfrm>
          <a:custGeom>
            <a:avLst/>
            <a:gdLst/>
            <a:ahLst/>
            <a:cxnLst/>
            <a:rect r="r" b="b" t="t" l="l"/>
            <a:pathLst>
              <a:path h="4114800" w="3715260">
                <a:moveTo>
                  <a:pt x="0" y="0"/>
                </a:moveTo>
                <a:lnTo>
                  <a:pt x="3715261" y="0"/>
                </a:lnTo>
                <a:lnTo>
                  <a:pt x="3715261" y="4114800"/>
                </a:lnTo>
                <a:lnTo>
                  <a:pt x="0" y="4114800"/>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3298210" y="836835"/>
            <a:ext cx="9966677" cy="1698267"/>
          </a:xfrm>
          <a:prstGeom prst="rect">
            <a:avLst/>
          </a:prstGeom>
        </p:spPr>
        <p:txBody>
          <a:bodyPr anchor="t" rtlCol="false" tIns="0" lIns="0" bIns="0" rIns="0">
            <a:spAutoFit/>
          </a:bodyPr>
          <a:lstStyle/>
          <a:p>
            <a:pPr algn="ctr">
              <a:lnSpc>
                <a:spcPts val="6438"/>
              </a:lnSpc>
            </a:pPr>
            <a:r>
              <a:rPr lang="en-US" b="true" sz="7233" spc="-144">
                <a:solidFill>
                  <a:srgbClr val="FFFFFF"/>
                </a:solidFill>
                <a:latin typeface="Canva Sans Bold"/>
                <a:ea typeface="Canva Sans Bold"/>
                <a:cs typeface="Canva Sans Bold"/>
                <a:sym typeface="Canva Sans Bold"/>
              </a:rPr>
              <a:t>Dataset  Composition</a:t>
            </a:r>
            <a:r>
              <a:rPr lang="en-US" sz="7233" spc="-144">
                <a:solidFill>
                  <a:srgbClr val="FFFFFF"/>
                </a:solidFill>
                <a:latin typeface="Canva Sans"/>
                <a:ea typeface="Canva Sans"/>
                <a:cs typeface="Canva Sans"/>
                <a:sym typeface="Canva Sans"/>
              </a:rPr>
              <a:t>              </a:t>
            </a:r>
          </a:p>
          <a:p>
            <a:pPr algn="ctr">
              <a:lnSpc>
                <a:spcPts val="6438"/>
              </a:lnSpc>
            </a:pPr>
          </a:p>
        </p:txBody>
      </p:sp>
      <p:sp>
        <p:nvSpPr>
          <p:cNvPr name="TextBox 13" id="13"/>
          <p:cNvSpPr txBox="true"/>
          <p:nvPr/>
        </p:nvSpPr>
        <p:spPr>
          <a:xfrm rot="0">
            <a:off x="11672107" y="2773679"/>
            <a:ext cx="4365927" cy="2369821"/>
          </a:xfrm>
          <a:prstGeom prst="rect">
            <a:avLst/>
          </a:prstGeom>
        </p:spPr>
        <p:txBody>
          <a:bodyPr anchor="t" rtlCol="false" tIns="0" lIns="0" bIns="0" rIns="0">
            <a:spAutoFit/>
          </a:bodyPr>
          <a:lstStyle/>
          <a:p>
            <a:pPr algn="l">
              <a:lnSpc>
                <a:spcPts val="3779"/>
              </a:lnSpc>
            </a:pPr>
            <a:r>
              <a:rPr lang="en-US" sz="2699" spc="-53" b="true">
                <a:solidFill>
                  <a:srgbClr val="FFFFFF"/>
                </a:solidFill>
                <a:latin typeface="Canva Sans Bold"/>
                <a:ea typeface="Canva Sans Bold"/>
                <a:cs typeface="Canva Sans Bold"/>
                <a:sym typeface="Canva Sans Bold"/>
              </a:rPr>
              <a:t>  - </a:t>
            </a:r>
            <a:r>
              <a:rPr lang="en-US" b="true" sz="2699" spc="-53">
                <a:solidFill>
                  <a:srgbClr val="FFFFFF"/>
                </a:solidFill>
                <a:latin typeface="Canva Sans Bold"/>
                <a:ea typeface="Canva Sans Bold"/>
                <a:cs typeface="Canva Sans Bold"/>
                <a:sym typeface="Canva Sans Bold"/>
              </a:rPr>
              <a:t>Custom Input Data        </a:t>
            </a:r>
          </a:p>
          <a:p>
            <a:pPr algn="l" marL="582925" indent="-291463" lvl="1">
              <a:lnSpc>
                <a:spcPts val="3779"/>
              </a:lnSpc>
              <a:buFont typeface="Arial"/>
              <a:buChar char="•"/>
            </a:pPr>
            <a:r>
              <a:rPr lang="en-US" b="true" sz="2699" spc="-53">
                <a:solidFill>
                  <a:srgbClr val="FFFFFF"/>
                </a:solidFill>
                <a:latin typeface="Canva Sans Bold"/>
                <a:ea typeface="Canva Sans Bold"/>
                <a:cs typeface="Canva Sans Bold"/>
                <a:sym typeface="Canva Sans Bold"/>
              </a:rPr>
              <a:t> User-provided text</a:t>
            </a:r>
          </a:p>
          <a:p>
            <a:pPr algn="l">
              <a:lnSpc>
                <a:spcPts val="3779"/>
              </a:lnSpc>
            </a:pPr>
            <a:r>
              <a:rPr lang="en-US" b="true" sz="2699" spc="-53">
                <a:solidFill>
                  <a:srgbClr val="FFFFFF"/>
                </a:solidFill>
                <a:latin typeface="Canva Sans Bold"/>
                <a:ea typeface="Canva Sans Bold"/>
                <a:cs typeface="Canva Sans Bold"/>
                <a:sym typeface="Canva Sans Bold"/>
              </a:rPr>
              <a:t>         (notes, articles, study</a:t>
            </a:r>
          </a:p>
          <a:p>
            <a:pPr algn="l">
              <a:lnSpc>
                <a:spcPts val="3779"/>
              </a:lnSpc>
            </a:pPr>
            <a:r>
              <a:rPr lang="en-US" b="true" sz="2699" spc="-53">
                <a:solidFill>
                  <a:srgbClr val="FFFFFF"/>
                </a:solidFill>
                <a:latin typeface="Canva Sans Bold"/>
                <a:ea typeface="Canva Sans Bold"/>
                <a:cs typeface="Canva Sans Bold"/>
                <a:sym typeface="Canva Sans Bold"/>
              </a:rPr>
              <a:t>          materials)</a:t>
            </a:r>
          </a:p>
          <a:p>
            <a:pPr algn="l">
              <a:lnSpc>
                <a:spcPts val="3779"/>
              </a:lnSpc>
            </a:pPr>
          </a:p>
        </p:txBody>
      </p:sp>
      <p:sp>
        <p:nvSpPr>
          <p:cNvPr name="TextBox 14" id="14"/>
          <p:cNvSpPr txBox="true"/>
          <p:nvPr/>
        </p:nvSpPr>
        <p:spPr>
          <a:xfrm rot="0">
            <a:off x="1865332" y="4516953"/>
            <a:ext cx="4522066" cy="2324206"/>
          </a:xfrm>
          <a:prstGeom prst="rect">
            <a:avLst/>
          </a:prstGeom>
        </p:spPr>
        <p:txBody>
          <a:bodyPr anchor="t" rtlCol="false" tIns="0" lIns="0" bIns="0" rIns="0">
            <a:spAutoFit/>
          </a:bodyPr>
          <a:lstStyle/>
          <a:p>
            <a:pPr algn="l">
              <a:lnSpc>
                <a:spcPts val="3725"/>
              </a:lnSpc>
            </a:pPr>
            <a:r>
              <a:rPr lang="en-US" sz="2660" spc="-53" b="true">
                <a:solidFill>
                  <a:srgbClr val="FFFFFF"/>
                </a:solidFill>
                <a:latin typeface="Canva Sans Bold"/>
                <a:ea typeface="Canva Sans Bold"/>
                <a:cs typeface="Canva Sans Bold"/>
                <a:sym typeface="Canva Sans Bold"/>
              </a:rPr>
              <a:t> -  Educational </a:t>
            </a:r>
          </a:p>
          <a:p>
            <a:pPr algn="l" marL="574508" indent="-287254" lvl="1">
              <a:lnSpc>
                <a:spcPts val="3725"/>
              </a:lnSpc>
              <a:buFont typeface="Arial"/>
              <a:buChar char="•"/>
            </a:pPr>
            <a:r>
              <a:rPr lang="en-US" b="true" sz="2660" spc="-53">
                <a:solidFill>
                  <a:srgbClr val="FFFFFF"/>
                </a:solidFill>
                <a:latin typeface="Canva Sans Bold"/>
                <a:ea typeface="Canva Sans Bold"/>
                <a:cs typeface="Canva Sans Bold"/>
                <a:sym typeface="Canva Sans Bold"/>
              </a:rPr>
              <a:t>Wikipedia articles</a:t>
            </a:r>
          </a:p>
          <a:p>
            <a:pPr algn="l" marL="574508" indent="-287254" lvl="1">
              <a:lnSpc>
                <a:spcPts val="3725"/>
              </a:lnSpc>
              <a:buFont typeface="Arial"/>
              <a:buChar char="•"/>
            </a:pPr>
            <a:r>
              <a:rPr lang="en-US" b="true" sz="2660" spc="-53">
                <a:solidFill>
                  <a:srgbClr val="FFFFFF"/>
                </a:solidFill>
                <a:latin typeface="Canva Sans Bold"/>
                <a:ea typeface="Canva Sans Bold"/>
                <a:cs typeface="Canva Sans Bold"/>
                <a:sym typeface="Canva Sans Bold"/>
              </a:rPr>
              <a:t>Online learning content</a:t>
            </a:r>
          </a:p>
          <a:p>
            <a:pPr algn="l" marL="574508" indent="-287254" lvl="1">
              <a:lnSpc>
                <a:spcPts val="3725"/>
              </a:lnSpc>
              <a:buFont typeface="Arial"/>
              <a:buChar char="•"/>
            </a:pPr>
            <a:r>
              <a:rPr lang="en-US" b="true" sz="2660" spc="-53">
                <a:solidFill>
                  <a:srgbClr val="FFFFFF"/>
                </a:solidFill>
                <a:latin typeface="Canva Sans Bold"/>
                <a:ea typeface="Canva Sans Bold"/>
                <a:cs typeface="Canva Sans Bold"/>
                <a:sym typeface="Canva Sans Bold"/>
              </a:rPr>
              <a:t>Open-source textbooks</a:t>
            </a:r>
          </a:p>
          <a:p>
            <a:pPr algn="l">
              <a:lnSpc>
                <a:spcPts val="3725"/>
              </a:lnSpc>
              <a:spcBef>
                <a:spcPct val="0"/>
              </a:spcBef>
            </a:pPr>
          </a:p>
        </p:txBody>
      </p:sp>
      <p:sp>
        <p:nvSpPr>
          <p:cNvPr name="TextBox 15" id="15"/>
          <p:cNvSpPr txBox="true"/>
          <p:nvPr/>
        </p:nvSpPr>
        <p:spPr>
          <a:xfrm rot="0">
            <a:off x="9786422" y="7194666"/>
            <a:ext cx="4852474" cy="2462530"/>
          </a:xfrm>
          <a:prstGeom prst="rect">
            <a:avLst/>
          </a:prstGeom>
        </p:spPr>
        <p:txBody>
          <a:bodyPr anchor="t" rtlCol="false" tIns="0" lIns="0" bIns="0" rIns="0">
            <a:spAutoFit/>
          </a:bodyPr>
          <a:lstStyle/>
          <a:p>
            <a:pPr algn="l">
              <a:lnSpc>
                <a:spcPts val="3919"/>
              </a:lnSpc>
            </a:pPr>
            <a:r>
              <a:rPr lang="en-US" b="true" sz="2799" spc="-55">
                <a:solidFill>
                  <a:srgbClr val="FFFFFF"/>
                </a:solidFill>
                <a:latin typeface="Canva Sans Bold"/>
                <a:ea typeface="Canva Sans Bold"/>
                <a:cs typeface="Canva Sans Bold"/>
                <a:sym typeface="Canva Sans Bold"/>
              </a:rPr>
              <a:t>  - Sample Questi</a:t>
            </a:r>
            <a:r>
              <a:rPr lang="en-US" b="true" sz="2799" spc="-55">
                <a:solidFill>
                  <a:srgbClr val="FFFFFF"/>
                </a:solidFill>
                <a:latin typeface="Canva Sans Bold"/>
                <a:ea typeface="Canva Sans Bold"/>
                <a:cs typeface="Canva Sans Bold"/>
                <a:sym typeface="Canva Sans Bold"/>
              </a:rPr>
              <a:t>on Banks </a:t>
            </a:r>
          </a:p>
          <a:p>
            <a:pPr algn="l" marL="604519" indent="-302260" lvl="1">
              <a:lnSpc>
                <a:spcPts val="3919"/>
              </a:lnSpc>
              <a:buFont typeface="Arial"/>
              <a:buChar char="•"/>
            </a:pPr>
            <a:r>
              <a:rPr lang="en-US" b="true" sz="2799" spc="-55">
                <a:solidFill>
                  <a:srgbClr val="FFFFFF"/>
                </a:solidFill>
                <a:latin typeface="Canva Sans Bold"/>
                <a:ea typeface="Canva Sans Bold"/>
                <a:cs typeface="Canva Sans Bold"/>
                <a:sym typeface="Canva Sans Bold"/>
              </a:rPr>
              <a:t>Predefined MCQs for reference</a:t>
            </a:r>
          </a:p>
          <a:p>
            <a:pPr algn="l" marL="604519" indent="-302260" lvl="1">
              <a:lnSpc>
                <a:spcPts val="3919"/>
              </a:lnSpc>
              <a:spcBef>
                <a:spcPct val="0"/>
              </a:spcBef>
              <a:buFont typeface="Arial"/>
              <a:buChar char="•"/>
            </a:pPr>
            <a:r>
              <a:rPr lang="en-US" b="true" sz="2799" spc="-55">
                <a:solidFill>
                  <a:srgbClr val="FFFFFF"/>
                </a:solidFill>
                <a:latin typeface="Canva Sans Bold"/>
                <a:ea typeface="Canva Sans Bold"/>
                <a:cs typeface="Canva Sans Bold"/>
                <a:sym typeface="Canva Sans Bold"/>
              </a:rPr>
              <a:t>Helps learn question patterns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45C72"/>
        </a:solidFill>
      </p:bgPr>
    </p:bg>
    <p:spTree>
      <p:nvGrpSpPr>
        <p:cNvPr id="1" name=""/>
        <p:cNvGrpSpPr/>
        <p:nvPr/>
      </p:nvGrpSpPr>
      <p:grpSpPr>
        <a:xfrm>
          <a:off x="0" y="0"/>
          <a:ext cx="0" cy="0"/>
          <a:chOff x="0" y="0"/>
          <a:chExt cx="0" cy="0"/>
        </a:xfrm>
      </p:grpSpPr>
      <p:sp>
        <p:nvSpPr>
          <p:cNvPr name="Freeform 2" id="2"/>
          <p:cNvSpPr/>
          <p:nvPr/>
        </p:nvSpPr>
        <p:spPr>
          <a:xfrm flipH="false" flipV="false" rot="0">
            <a:off x="188491" y="132736"/>
            <a:ext cx="3715162" cy="3812199"/>
          </a:xfrm>
          <a:custGeom>
            <a:avLst/>
            <a:gdLst/>
            <a:ahLst/>
            <a:cxnLst/>
            <a:rect r="r" b="b" t="t" l="l"/>
            <a:pathLst>
              <a:path h="3812199" w="3715162">
                <a:moveTo>
                  <a:pt x="0" y="0"/>
                </a:moveTo>
                <a:lnTo>
                  <a:pt x="3715161" y="0"/>
                </a:lnTo>
                <a:lnTo>
                  <a:pt x="3715161" y="3812200"/>
                </a:lnTo>
                <a:lnTo>
                  <a:pt x="0" y="3812200"/>
                </a:lnTo>
                <a:lnTo>
                  <a:pt x="0" y="0"/>
                </a:lnTo>
                <a:close/>
              </a:path>
            </a:pathLst>
          </a:custGeom>
          <a:blipFill>
            <a:blip r:embed="rId2">
              <a:alphaModFix amt="4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01357" y="7544538"/>
            <a:ext cx="2867593" cy="2742462"/>
          </a:xfrm>
          <a:custGeom>
            <a:avLst/>
            <a:gdLst/>
            <a:ahLst/>
            <a:cxnLst/>
            <a:rect r="r" b="b" t="t" l="l"/>
            <a:pathLst>
              <a:path h="2742462" w="2867593">
                <a:moveTo>
                  <a:pt x="0" y="0"/>
                </a:moveTo>
                <a:lnTo>
                  <a:pt x="2867593" y="0"/>
                </a:lnTo>
                <a:lnTo>
                  <a:pt x="2867593" y="2742462"/>
                </a:lnTo>
                <a:lnTo>
                  <a:pt x="0" y="2742462"/>
                </a:lnTo>
                <a:lnTo>
                  <a:pt x="0" y="0"/>
                </a:lnTo>
                <a:close/>
              </a:path>
            </a:pathLst>
          </a:custGeom>
          <a:blipFill>
            <a:blip r:embed="rId4">
              <a:alphaModFix amt="58000"/>
            </a:blip>
            <a:stretch>
              <a:fillRect l="0" t="0" r="0" b="0"/>
            </a:stretch>
          </a:blipFill>
        </p:spPr>
      </p:sp>
      <p:sp>
        <p:nvSpPr>
          <p:cNvPr name="Freeform 4" id="4"/>
          <p:cNvSpPr/>
          <p:nvPr/>
        </p:nvSpPr>
        <p:spPr>
          <a:xfrm flipH="false" flipV="false" rot="0">
            <a:off x="5440648" y="2603294"/>
            <a:ext cx="7395141" cy="7435700"/>
          </a:xfrm>
          <a:custGeom>
            <a:avLst/>
            <a:gdLst/>
            <a:ahLst/>
            <a:cxnLst/>
            <a:rect r="r" b="b" t="t" l="l"/>
            <a:pathLst>
              <a:path h="7435700" w="7395141">
                <a:moveTo>
                  <a:pt x="0" y="0"/>
                </a:moveTo>
                <a:lnTo>
                  <a:pt x="7395141" y="0"/>
                </a:lnTo>
                <a:lnTo>
                  <a:pt x="7395141" y="7435700"/>
                </a:lnTo>
                <a:lnTo>
                  <a:pt x="0" y="7435700"/>
                </a:lnTo>
                <a:lnTo>
                  <a:pt x="0" y="0"/>
                </a:lnTo>
                <a:close/>
              </a:path>
            </a:pathLst>
          </a:custGeom>
          <a:blipFill>
            <a:blip r:embed="rId5">
              <a:alphaModFix amt="82000"/>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4144644" y="1558534"/>
            <a:ext cx="10442596" cy="1967301"/>
          </a:xfrm>
          <a:prstGeom prst="rect">
            <a:avLst/>
          </a:prstGeom>
        </p:spPr>
        <p:txBody>
          <a:bodyPr anchor="t" rtlCol="false" tIns="0" lIns="0" bIns="0" rIns="0">
            <a:spAutoFit/>
          </a:bodyPr>
          <a:lstStyle/>
          <a:p>
            <a:pPr algn="ctr">
              <a:lnSpc>
                <a:spcPts val="7437"/>
              </a:lnSpc>
            </a:pPr>
            <a:r>
              <a:rPr lang="en-US" sz="8356" spc="-167">
                <a:solidFill>
                  <a:srgbClr val="FFFFFF"/>
                </a:solidFill>
                <a:latin typeface="Canva Sans"/>
                <a:ea typeface="Canva Sans"/>
                <a:cs typeface="Canva Sans"/>
                <a:sym typeface="Canva Sans"/>
              </a:rPr>
              <a:t>Perform</a:t>
            </a:r>
            <a:r>
              <a:rPr lang="en-US" sz="8356" spc="-167">
                <a:solidFill>
                  <a:srgbClr val="FFFFFF"/>
                </a:solidFill>
                <a:latin typeface="Canva Sans"/>
                <a:ea typeface="Canva Sans"/>
                <a:cs typeface="Canva Sans"/>
                <a:sym typeface="Canva Sans"/>
              </a:rPr>
              <a:t>ance Metrics</a:t>
            </a:r>
          </a:p>
          <a:p>
            <a:pPr algn="ctr">
              <a:lnSpc>
                <a:spcPts val="7437"/>
              </a:lnSpc>
            </a:pPr>
          </a:p>
        </p:txBody>
      </p:sp>
      <p:sp>
        <p:nvSpPr>
          <p:cNvPr name="TextBox 6" id="6"/>
          <p:cNvSpPr txBox="true"/>
          <p:nvPr/>
        </p:nvSpPr>
        <p:spPr>
          <a:xfrm rot="0">
            <a:off x="2184679" y="3906836"/>
            <a:ext cx="6475095" cy="815340"/>
          </a:xfrm>
          <a:prstGeom prst="rect">
            <a:avLst/>
          </a:prstGeom>
        </p:spPr>
        <p:txBody>
          <a:bodyPr anchor="t" rtlCol="false" tIns="0" lIns="0" bIns="0" rIns="0">
            <a:spAutoFit/>
          </a:bodyPr>
          <a:lstStyle/>
          <a:p>
            <a:pPr algn="l" marL="518160" indent="-259080" lvl="1">
              <a:lnSpc>
                <a:spcPts val="3359"/>
              </a:lnSpc>
              <a:buFont typeface="Arial"/>
              <a:buChar char="•"/>
            </a:pPr>
            <a:r>
              <a:rPr lang="en-US" b="true" sz="2400" spc="-48">
                <a:solidFill>
                  <a:srgbClr val="FFFFFF"/>
                </a:solidFill>
                <a:latin typeface="Canva Sans Bold"/>
                <a:ea typeface="Canva Sans Bold"/>
                <a:cs typeface="Canva Sans Bold"/>
                <a:sym typeface="Canva Sans Bold"/>
              </a:rPr>
              <a:t>  Relevance </a:t>
            </a:r>
          </a:p>
          <a:p>
            <a:pPr algn="l">
              <a:lnSpc>
                <a:spcPts val="3359"/>
              </a:lnSpc>
              <a:spcBef>
                <a:spcPct val="0"/>
              </a:spcBef>
            </a:pPr>
            <a:r>
              <a:rPr lang="en-US" b="true" sz="2400" spc="-48">
                <a:solidFill>
                  <a:srgbClr val="FFFFFF"/>
                </a:solidFill>
                <a:latin typeface="Canva Sans Bold"/>
                <a:ea typeface="Canva Sans Bold"/>
                <a:cs typeface="Canva Sans Bold"/>
                <a:sym typeface="Canva Sans Bold"/>
              </a:rPr>
              <a:t>           -  Questions are related to the input text </a:t>
            </a:r>
          </a:p>
        </p:txBody>
      </p:sp>
      <p:sp>
        <p:nvSpPr>
          <p:cNvPr name="TextBox 7" id="7"/>
          <p:cNvSpPr txBox="true"/>
          <p:nvPr/>
        </p:nvSpPr>
        <p:spPr>
          <a:xfrm rot="0">
            <a:off x="8659774" y="5105400"/>
            <a:ext cx="5183981" cy="815340"/>
          </a:xfrm>
          <a:prstGeom prst="rect">
            <a:avLst/>
          </a:prstGeom>
        </p:spPr>
        <p:txBody>
          <a:bodyPr anchor="t" rtlCol="false" tIns="0" lIns="0" bIns="0" rIns="0">
            <a:spAutoFit/>
          </a:bodyPr>
          <a:lstStyle/>
          <a:p>
            <a:pPr algn="l" marL="518160" indent="-259080" lvl="1">
              <a:lnSpc>
                <a:spcPts val="3359"/>
              </a:lnSpc>
              <a:buFont typeface="Arial"/>
              <a:buChar char="•"/>
            </a:pPr>
            <a:r>
              <a:rPr lang="en-US" b="true" sz="2400" spc="-48">
                <a:solidFill>
                  <a:srgbClr val="FFFFFF"/>
                </a:solidFill>
                <a:latin typeface="Canva Sans Bold"/>
                <a:ea typeface="Canva Sans Bold"/>
                <a:cs typeface="Canva Sans Bold"/>
                <a:sym typeface="Canva Sans Bold"/>
              </a:rPr>
              <a:t>  Accurancy</a:t>
            </a:r>
          </a:p>
          <a:p>
            <a:pPr algn="l">
              <a:lnSpc>
                <a:spcPts val="3359"/>
              </a:lnSpc>
            </a:pPr>
            <a:r>
              <a:rPr lang="en-US" sz="2400" spc="-48" b="true">
                <a:solidFill>
                  <a:srgbClr val="FFFFFF"/>
                </a:solidFill>
                <a:latin typeface="Canva Sans Bold"/>
                <a:ea typeface="Canva Sans Bold"/>
                <a:cs typeface="Canva Sans Bold"/>
                <a:sym typeface="Canva Sans Bold"/>
              </a:rPr>
              <a:t>        -  Questions are logically  correct</a:t>
            </a:r>
          </a:p>
        </p:txBody>
      </p:sp>
      <p:sp>
        <p:nvSpPr>
          <p:cNvPr name="TextBox 8" id="8"/>
          <p:cNvSpPr txBox="true"/>
          <p:nvPr/>
        </p:nvSpPr>
        <p:spPr>
          <a:xfrm rot="0">
            <a:off x="2184679" y="6596398"/>
            <a:ext cx="7561302" cy="815340"/>
          </a:xfrm>
          <a:prstGeom prst="rect">
            <a:avLst/>
          </a:prstGeom>
        </p:spPr>
        <p:txBody>
          <a:bodyPr anchor="t" rtlCol="false" tIns="0" lIns="0" bIns="0" rIns="0">
            <a:spAutoFit/>
          </a:bodyPr>
          <a:lstStyle/>
          <a:p>
            <a:pPr algn="l" marL="518160" indent="-259080" lvl="1">
              <a:lnSpc>
                <a:spcPts val="3359"/>
              </a:lnSpc>
              <a:buFont typeface="Arial"/>
              <a:buChar char="•"/>
            </a:pPr>
            <a:r>
              <a:rPr lang="en-US" b="true" sz="2400" spc="-48">
                <a:solidFill>
                  <a:srgbClr val="FFFFFF"/>
                </a:solidFill>
                <a:latin typeface="Canva Sans Bold"/>
                <a:ea typeface="Canva Sans Bold"/>
                <a:cs typeface="Canva Sans Bold"/>
                <a:sym typeface="Canva Sans Bold"/>
              </a:rPr>
              <a:t>Readability</a:t>
            </a:r>
          </a:p>
          <a:p>
            <a:pPr algn="l">
              <a:lnSpc>
                <a:spcPts val="3359"/>
              </a:lnSpc>
              <a:spcBef>
                <a:spcPct val="0"/>
              </a:spcBef>
            </a:pPr>
            <a:r>
              <a:rPr lang="en-US" b="true" sz="2400" spc="-48">
                <a:solidFill>
                  <a:srgbClr val="FFFFFF"/>
                </a:solidFill>
                <a:latin typeface="Canva Sans Bold"/>
                <a:ea typeface="Canva Sans Bold"/>
                <a:cs typeface="Canva Sans Bold"/>
                <a:sym typeface="Canva Sans Bold"/>
              </a:rPr>
              <a:t>          -  Questions are clear and grammatically  correct</a:t>
            </a:r>
          </a:p>
        </p:txBody>
      </p:sp>
      <p:sp>
        <p:nvSpPr>
          <p:cNvPr name="TextBox 9" id="9"/>
          <p:cNvSpPr txBox="true"/>
          <p:nvPr/>
        </p:nvSpPr>
        <p:spPr>
          <a:xfrm rot="0">
            <a:off x="8659774" y="7792738"/>
            <a:ext cx="8352030" cy="815340"/>
          </a:xfrm>
          <a:prstGeom prst="rect">
            <a:avLst/>
          </a:prstGeom>
        </p:spPr>
        <p:txBody>
          <a:bodyPr anchor="t" rtlCol="false" tIns="0" lIns="0" bIns="0" rIns="0">
            <a:spAutoFit/>
          </a:bodyPr>
          <a:lstStyle/>
          <a:p>
            <a:pPr algn="l" marL="518160" indent="-259080" lvl="1">
              <a:lnSpc>
                <a:spcPts val="3359"/>
              </a:lnSpc>
              <a:buFont typeface="Arial"/>
              <a:buChar char="•"/>
            </a:pPr>
            <a:r>
              <a:rPr lang="en-US" b="true" sz="2400" spc="-48">
                <a:solidFill>
                  <a:srgbClr val="FFFFFF"/>
                </a:solidFill>
                <a:latin typeface="Canva Sans Bold"/>
                <a:ea typeface="Canva Sans Bold"/>
                <a:cs typeface="Canva Sans Bold"/>
                <a:sym typeface="Canva Sans Bold"/>
              </a:rPr>
              <a:t>User Satisfaction</a:t>
            </a:r>
          </a:p>
          <a:p>
            <a:pPr algn="l">
              <a:lnSpc>
                <a:spcPts val="3359"/>
              </a:lnSpc>
              <a:spcBef>
                <a:spcPct val="0"/>
              </a:spcBef>
            </a:pPr>
            <a:r>
              <a:rPr lang="en-US" b="true" sz="2400" spc="-48">
                <a:solidFill>
                  <a:srgbClr val="FFFFFF"/>
                </a:solidFill>
                <a:latin typeface="Canva Sans Bold"/>
                <a:ea typeface="Canva Sans Bold"/>
                <a:cs typeface="Canva Sans Bold"/>
                <a:sym typeface="Canva Sans Bold"/>
              </a:rPr>
              <a:t>         -  Users find the questions useful and understandable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45C72"/>
        </a:solidFill>
      </p:bgPr>
    </p:bg>
    <p:spTree>
      <p:nvGrpSpPr>
        <p:cNvPr id="1" name=""/>
        <p:cNvGrpSpPr/>
        <p:nvPr/>
      </p:nvGrpSpPr>
      <p:grpSpPr>
        <a:xfrm>
          <a:off x="0" y="0"/>
          <a:ext cx="0" cy="0"/>
          <a:chOff x="0" y="0"/>
          <a:chExt cx="0" cy="0"/>
        </a:xfrm>
      </p:grpSpPr>
      <p:sp>
        <p:nvSpPr>
          <p:cNvPr name="TextBox 2" id="2"/>
          <p:cNvSpPr txBox="true"/>
          <p:nvPr/>
        </p:nvSpPr>
        <p:spPr>
          <a:xfrm rot="0">
            <a:off x="3228455" y="3544690"/>
            <a:ext cx="13087870" cy="6995161"/>
          </a:xfrm>
          <a:prstGeom prst="rect">
            <a:avLst/>
          </a:prstGeom>
        </p:spPr>
        <p:txBody>
          <a:bodyPr anchor="t" rtlCol="false" tIns="0" lIns="0" bIns="0" rIns="0">
            <a:spAutoFit/>
          </a:bodyPr>
          <a:lstStyle/>
          <a:p>
            <a:pPr algn="l">
              <a:lnSpc>
                <a:spcPts val="5039"/>
              </a:lnSpc>
              <a:spcBef>
                <a:spcPct val="0"/>
              </a:spcBef>
            </a:pPr>
            <a:r>
              <a:rPr lang="en-US" sz="3599" spc="-71">
                <a:solidFill>
                  <a:srgbClr val="FFFFFF"/>
                </a:solidFill>
                <a:latin typeface="Canva Sans"/>
                <a:ea typeface="Canva Sans"/>
                <a:cs typeface="Canva Sans"/>
                <a:sym typeface="Canva Sans"/>
              </a:rPr>
              <a:t>The AI Quiz Generator demonstrates how artificial intelligence can simplify and impr</a:t>
            </a:r>
            <a:r>
              <a:rPr lang="en-US" sz="3599" spc="-71">
                <a:solidFill>
                  <a:srgbClr val="FFFFFF"/>
                </a:solidFill>
                <a:latin typeface="Canva Sans"/>
                <a:ea typeface="Canva Sans"/>
                <a:cs typeface="Canva Sans"/>
                <a:sym typeface="Canva Sans"/>
              </a:rPr>
              <a:t>ove the assessment process in education. By transforming input content into structured quizzes, it ensures faster evaluation and better engagement. The system shows strong potential for enhancing modern learning environments through automation and intelligent question generation.</a:t>
            </a:r>
          </a:p>
          <a:p>
            <a:pPr algn="l">
              <a:lnSpc>
                <a:spcPts val="5039"/>
              </a:lnSpc>
              <a:spcBef>
                <a:spcPct val="0"/>
              </a:spcBef>
            </a:pPr>
          </a:p>
          <a:p>
            <a:pPr algn="l">
              <a:lnSpc>
                <a:spcPts val="5039"/>
              </a:lnSpc>
              <a:spcBef>
                <a:spcPct val="0"/>
              </a:spcBef>
            </a:pPr>
          </a:p>
          <a:p>
            <a:pPr algn="l">
              <a:lnSpc>
                <a:spcPts val="5039"/>
              </a:lnSpc>
              <a:spcBef>
                <a:spcPct val="0"/>
              </a:spcBef>
            </a:pPr>
          </a:p>
          <a:p>
            <a:pPr algn="l">
              <a:lnSpc>
                <a:spcPts val="5039"/>
              </a:lnSpc>
              <a:spcBef>
                <a:spcPct val="0"/>
              </a:spcBef>
            </a:pPr>
          </a:p>
        </p:txBody>
      </p:sp>
      <p:sp>
        <p:nvSpPr>
          <p:cNvPr name="Freeform 3" id="3"/>
          <p:cNvSpPr/>
          <p:nvPr/>
        </p:nvSpPr>
        <p:spPr>
          <a:xfrm flipH="false" flipV="false" rot="0">
            <a:off x="2313094" y="98303"/>
            <a:ext cx="14918592" cy="10090393"/>
          </a:xfrm>
          <a:custGeom>
            <a:avLst/>
            <a:gdLst/>
            <a:ahLst/>
            <a:cxnLst/>
            <a:rect r="r" b="b" t="t" l="l"/>
            <a:pathLst>
              <a:path h="10090393" w="14918592">
                <a:moveTo>
                  <a:pt x="0" y="0"/>
                </a:moveTo>
                <a:lnTo>
                  <a:pt x="14918592" y="0"/>
                </a:lnTo>
                <a:lnTo>
                  <a:pt x="14918592" y="10090394"/>
                </a:lnTo>
                <a:lnTo>
                  <a:pt x="0" y="10090394"/>
                </a:lnTo>
                <a:lnTo>
                  <a:pt x="0" y="0"/>
                </a:lnTo>
                <a:close/>
              </a:path>
            </a:pathLst>
          </a:custGeom>
          <a:blipFill>
            <a:blip r:embed="rId2">
              <a:alphaModFix amt="31999"/>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052419" y="2256087"/>
            <a:ext cx="8960375" cy="1024326"/>
          </a:xfrm>
          <a:prstGeom prst="rect">
            <a:avLst/>
          </a:prstGeom>
        </p:spPr>
        <p:txBody>
          <a:bodyPr anchor="t" rtlCol="false" tIns="0" lIns="0" bIns="0" rIns="0">
            <a:spAutoFit/>
          </a:bodyPr>
          <a:lstStyle/>
          <a:p>
            <a:pPr algn="l">
              <a:lnSpc>
                <a:spcPts val="7437"/>
              </a:lnSpc>
            </a:pPr>
            <a:r>
              <a:rPr lang="en-US" sz="8356" spc="-167">
                <a:solidFill>
                  <a:srgbClr val="FFFFFF"/>
                </a:solidFill>
                <a:latin typeface="Canva Sans"/>
                <a:ea typeface="Canva Sans"/>
                <a:cs typeface="Canva Sans"/>
                <a:sym typeface="Canva Sans"/>
              </a:rPr>
              <a:t>Conclusion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45C72"/>
        </a:solidFill>
      </p:bgPr>
    </p:bg>
    <p:spTree>
      <p:nvGrpSpPr>
        <p:cNvPr id="1" name=""/>
        <p:cNvGrpSpPr/>
        <p:nvPr/>
      </p:nvGrpSpPr>
      <p:grpSpPr>
        <a:xfrm>
          <a:off x="0" y="0"/>
          <a:ext cx="0" cy="0"/>
          <a:chOff x="0" y="0"/>
          <a:chExt cx="0" cy="0"/>
        </a:xfrm>
      </p:grpSpPr>
      <p:sp>
        <p:nvSpPr>
          <p:cNvPr name="Freeform 2" id="2"/>
          <p:cNvSpPr/>
          <p:nvPr/>
        </p:nvSpPr>
        <p:spPr>
          <a:xfrm flipH="false" flipV="false" rot="0">
            <a:off x="5887783" y="2339083"/>
            <a:ext cx="6512433" cy="5608833"/>
          </a:xfrm>
          <a:custGeom>
            <a:avLst/>
            <a:gdLst/>
            <a:ahLst/>
            <a:cxnLst/>
            <a:rect r="r" b="b" t="t" l="l"/>
            <a:pathLst>
              <a:path h="5608833" w="6512433">
                <a:moveTo>
                  <a:pt x="0" y="0"/>
                </a:moveTo>
                <a:lnTo>
                  <a:pt x="6512434" y="0"/>
                </a:lnTo>
                <a:lnTo>
                  <a:pt x="6512434" y="5608834"/>
                </a:lnTo>
                <a:lnTo>
                  <a:pt x="0" y="56088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DAHIiI80wUI</dc:identifier>
  <dcterms:modified xsi:type="dcterms:W3CDTF">2011-08-01T06:04:30Z</dcterms:modified>
  <cp:revision>1</cp:revision>
  <dc:title>AI Quiz GEnerator</dc:title>
</cp:coreProperties>
</file>